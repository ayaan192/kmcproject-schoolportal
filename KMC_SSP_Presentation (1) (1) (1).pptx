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9" r:id="rId6"/>
    <p:sldId id="270" r:id="rId7"/>
    <p:sldId id="271" r:id="rId8"/>
    <p:sldId id="264" r:id="rId9"/>
    <p:sldId id="268" r:id="rId10"/>
    <p:sldId id="260" r:id="rId11"/>
    <p:sldId id="263" r:id="rId12"/>
    <p:sldId id="261" r:id="rId13"/>
    <p:sldId id="266" r:id="rId14"/>
    <p:sldId id="262"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3FE79E-AC85-4BB2-8BAA-13FDF08F74FE}" v="1835" dt="2026-02-22T17:12:00.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F71552F-6019-4C71-8774-5C4E78A08268}" type="datetimeFigureOut">
              <a:t>2/22/2026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4E129B2A-B657-4D35-9B48-4333CA84F5BE}" type="slidenum">
              <a:t>‹#›</a:t>
            </a:fld>
            <a:endParaRPr lang="en-US"/>
          </a:p>
        </p:txBody>
      </p:sp>
    </p:spTree>
    <p:extLst>
      <p:ext uri="{BB962C8B-B14F-4D97-AF65-F5344CB8AC3E}">
        <p14:creationId xmlns:p14="http://schemas.microsoft.com/office/powerpoint/2010/main" val="140032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2B172-EF8B-64E3-E30A-F03514985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9F3D6-450A-1899-7DBE-84402E14D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CF749-7C6A-B4CB-E2F2-D0AB4D4BA5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ABA502-77DC-04ED-9DA9-8F66A9BC241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28495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6C409-6A23-99B8-7A33-4075A07C3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5918E-4E6C-F273-0856-302688D08C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70605-527B-4F89-6CEF-8EDD7789B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2CDD74-9895-6EB5-DBD7-4557B79DE7A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71269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13D4F-0F5F-1136-D95F-9ECE1135F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27920-41C6-60B6-C81A-D98DD316A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EF109-46DB-7116-18AA-470B32414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3E28A1-F3FF-87F2-4AFC-29DFFA82B70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42976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0532-57A1-AAEE-0363-17611234B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D5C56-0D68-C76B-EC5C-3EDA3646D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91738-CF1D-FA4B-2859-49BBD90B3F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EFAAA-54EB-8FA3-3B0D-290FC641487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34794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1828800"/>
            <a:ext cx="5486400" cy="5486400"/>
          </a:xfrm>
          <a:prstGeom prst="ellipse">
            <a:avLst/>
          </a:prstGeom>
          <a:solidFill>
            <a:srgbClr val="C9A227">
              <a:alpha val="10000"/>
            </a:srgbClr>
          </a:solidFill>
          <a:ln/>
        </p:spPr>
      </p:sp>
      <p:sp>
        <p:nvSpPr>
          <p:cNvPr id="3" name="Shape 1"/>
          <p:cNvSpPr/>
          <p:nvPr/>
        </p:nvSpPr>
        <p:spPr>
          <a:xfrm>
            <a:off x="-1828800" y="2286000"/>
            <a:ext cx="4572000" cy="4572000"/>
          </a:xfrm>
          <a:prstGeom prst="ellipse">
            <a:avLst/>
          </a:prstGeom>
          <a:solidFill>
            <a:srgbClr val="1E3A5F">
              <a:alpha val="40000"/>
            </a:srgbClr>
          </a:solidFill>
          <a:ln/>
        </p:spPr>
      </p:sp>
      <p:sp>
        <p:nvSpPr>
          <p:cNvPr id="6" name="Text 4"/>
          <p:cNvSpPr/>
          <p:nvPr/>
        </p:nvSpPr>
        <p:spPr>
          <a:xfrm>
            <a:off x="914400" y="1874520"/>
            <a:ext cx="7315200" cy="320040"/>
          </a:xfrm>
          <a:prstGeom prst="rect">
            <a:avLst/>
          </a:prstGeom>
          <a:noFill/>
          <a:ln/>
        </p:spPr>
        <p:txBody>
          <a:bodyPr wrap="square" rtlCol="0" anchor="ctr"/>
          <a:lstStyle/>
          <a:p>
            <a:pPr marL="0" indent="0" algn="ctr">
              <a:buNone/>
            </a:pPr>
            <a:r>
              <a:rPr lang="en-US" sz="1100" b="1" kern="0" spc="600" dirty="0">
                <a:solidFill>
                  <a:srgbClr val="C9A227"/>
                </a:solidFill>
                <a:latin typeface="Calibri" pitchFamily="34" charset="0"/>
                <a:ea typeface="Calibri" pitchFamily="34" charset="-122"/>
                <a:cs typeface="Calibri" pitchFamily="34" charset="-120"/>
              </a:rPr>
              <a:t>INTRODUCING</a:t>
            </a:r>
            <a:endParaRPr lang="en-US" sz="1100" dirty="0"/>
          </a:p>
        </p:txBody>
      </p:sp>
      <p:sp>
        <p:nvSpPr>
          <p:cNvPr id="7" name="Text 5"/>
          <p:cNvSpPr/>
          <p:nvPr/>
        </p:nvSpPr>
        <p:spPr>
          <a:xfrm>
            <a:off x="457200" y="2194560"/>
            <a:ext cx="8229600" cy="1371600"/>
          </a:xfrm>
          <a:prstGeom prst="rect">
            <a:avLst/>
          </a:prstGeom>
          <a:noFill/>
          <a:ln/>
        </p:spPr>
        <p:txBody>
          <a:bodyPr wrap="square" lIns="91440" tIns="45720" rIns="91440" bIns="45720" rtlCol="0" anchor="ctr"/>
          <a:lstStyle/>
          <a:p>
            <a:pPr marL="0" indent="0" algn="ctr">
              <a:buNone/>
            </a:pPr>
            <a:r>
              <a:rPr lang="en-US" sz="4400" b="1" dirty="0">
                <a:solidFill>
                  <a:srgbClr val="0070C0"/>
                </a:solidFill>
                <a:latin typeface="Georgia"/>
                <a:ea typeface="Georgia" pitchFamily="34" charset="-122"/>
                <a:cs typeface="Georgia" pitchFamily="34" charset="-120"/>
              </a:rPr>
              <a:t>K</a:t>
            </a:r>
            <a:r>
              <a:rPr lang="en-US" sz="4400" b="1" dirty="0">
                <a:solidFill>
                  <a:srgbClr val="FF0000"/>
                </a:solidFill>
                <a:latin typeface="Georgia"/>
                <a:ea typeface="Georgia" pitchFamily="34" charset="-122"/>
                <a:cs typeface="Georgia" pitchFamily="34" charset="-120"/>
              </a:rPr>
              <a:t>M</a:t>
            </a:r>
            <a:r>
              <a:rPr lang="en-US" sz="4400" b="1" dirty="0">
                <a:solidFill>
                  <a:srgbClr val="00B050"/>
                </a:solidFill>
                <a:latin typeface="Georgia"/>
                <a:ea typeface="Georgia" pitchFamily="34" charset="-122"/>
                <a:cs typeface="Georgia" pitchFamily="34" charset="-120"/>
              </a:rPr>
              <a:t>C</a:t>
            </a:r>
            <a:r>
              <a:rPr lang="en-US" sz="4400" b="1" dirty="0">
                <a:solidFill>
                  <a:srgbClr val="F8F9FA"/>
                </a:solidFill>
                <a:latin typeface="Georgia"/>
                <a:ea typeface="Georgia" pitchFamily="34" charset="-122"/>
                <a:cs typeface="Georgia" pitchFamily="34" charset="-120"/>
              </a:rPr>
              <a:t> School</a:t>
            </a:r>
            <a:endParaRPr lang="en-US" sz="4400" dirty="0">
              <a:latin typeface="Georgia"/>
            </a:endParaRPr>
          </a:p>
          <a:p>
            <a:pPr marL="0" indent="0" algn="ctr">
              <a:buNone/>
            </a:pPr>
            <a:r>
              <a:rPr lang="en-US" sz="4400" b="1" dirty="0">
                <a:solidFill>
                  <a:srgbClr val="F8F9FA"/>
                </a:solidFill>
                <a:latin typeface="Georgia" pitchFamily="34" charset="0"/>
                <a:ea typeface="Georgia" pitchFamily="34" charset="-122"/>
                <a:cs typeface="Georgia" pitchFamily="34" charset="-120"/>
              </a:rPr>
              <a:t>Management System</a:t>
            </a:r>
            <a:endParaRPr lang="en-US" sz="4400" dirty="0"/>
          </a:p>
        </p:txBody>
      </p:sp>
      <p:sp>
        <p:nvSpPr>
          <p:cNvPr id="8" name="Text 6"/>
          <p:cNvSpPr/>
          <p:nvPr/>
        </p:nvSpPr>
        <p:spPr>
          <a:xfrm>
            <a:off x="914400" y="3566160"/>
            <a:ext cx="7315200" cy="640080"/>
          </a:xfrm>
          <a:prstGeom prst="rect">
            <a:avLst/>
          </a:prstGeom>
          <a:noFill/>
          <a:ln/>
        </p:spPr>
        <p:txBody>
          <a:bodyPr wrap="square" lIns="91440" tIns="45720" rIns="91440" bIns="45720" rtlCol="0" anchor="ctr"/>
          <a:lstStyle/>
          <a:p>
            <a:pPr algn="ctr"/>
            <a:r>
              <a:rPr lang="en-US" sz="1300" dirty="0">
                <a:solidFill>
                  <a:srgbClr val="A0AEC0"/>
                </a:solidFill>
                <a:latin typeface="Calibri"/>
                <a:ea typeface="Calibri"/>
                <a:cs typeface="Calibri"/>
              </a:rPr>
              <a:t>A  web-based portal for students, teachers &amp; parents</a:t>
            </a:r>
            <a:endParaRPr lang="en-US" sz="1300" dirty="0">
              <a:latin typeface="Calibri"/>
              <a:ea typeface="Calibri"/>
              <a:cs typeface="Calibri"/>
            </a:endParaRPr>
          </a:p>
          <a:p>
            <a:pPr marL="0" indent="0" algn="ctr">
              <a:buNone/>
            </a:pPr>
            <a:r>
              <a:rPr lang="en-US" sz="1300" dirty="0">
                <a:solidFill>
                  <a:srgbClr val="A0AEC0"/>
                </a:solidFill>
                <a:latin typeface="Calibri"/>
                <a:ea typeface="Calibri"/>
                <a:cs typeface="Calibri"/>
              </a:rPr>
              <a:t>with AI-powered Chats</a:t>
            </a:r>
            <a:endParaRPr lang="en-US" sz="1300" dirty="0"/>
          </a:p>
        </p:txBody>
      </p:sp>
      <p:sp>
        <p:nvSpPr>
          <p:cNvPr id="9" name="Shape 7"/>
          <p:cNvSpPr/>
          <p:nvPr/>
        </p:nvSpPr>
        <p:spPr>
          <a:xfrm>
            <a:off x="2560320" y="4343400"/>
            <a:ext cx="4023360" cy="457200"/>
          </a:xfrm>
          <a:prstGeom prst="roundRect">
            <a:avLst>
              <a:gd name="adj" fmla="val 30000"/>
            </a:avLst>
          </a:prstGeom>
          <a:solidFill>
            <a:srgbClr val="C9A227">
              <a:alpha val="20000"/>
            </a:srgbClr>
          </a:solidFill>
          <a:ln w="19050">
            <a:solidFill>
              <a:srgbClr val="C9A227"/>
            </a:solidFill>
            <a:prstDash val="solid"/>
          </a:ln>
        </p:spPr>
      </p:sp>
      <p:sp>
        <p:nvSpPr>
          <p:cNvPr id="10" name="Text 8"/>
          <p:cNvSpPr/>
          <p:nvPr/>
        </p:nvSpPr>
        <p:spPr>
          <a:xfrm>
            <a:off x="2560320" y="4343400"/>
            <a:ext cx="4023360" cy="457200"/>
          </a:xfrm>
          <a:prstGeom prst="rect">
            <a:avLst/>
          </a:prstGeom>
          <a:noFill/>
          <a:ln/>
        </p:spPr>
        <p:txBody>
          <a:bodyPr wrap="square" lIns="91440" tIns="45720" rIns="91440" bIns="45720" rtlCol="0" anchor="ctr"/>
          <a:lstStyle/>
          <a:p>
            <a:pPr marL="0" indent="0" algn="ctr">
              <a:buNone/>
            </a:pPr>
            <a:r>
              <a:rPr lang="en-US" sz="1050" b="1" dirty="0">
                <a:solidFill>
                  <a:srgbClr val="E8D48A"/>
                </a:solidFill>
                <a:latin typeface="Calibri"/>
                <a:ea typeface="Calibri"/>
                <a:cs typeface="Calibri"/>
              </a:rPr>
              <a:t>🚀  KMC SMP v1.0  •  Firebase  • AI</a:t>
            </a:r>
            <a:endParaRPr lang="en-US" sz="1050" dirty="0">
              <a:latin typeface="Calibri"/>
              <a:ea typeface="Calibri"/>
              <a:cs typeface="Calibri"/>
            </a:endParaRPr>
          </a:p>
        </p:txBody>
      </p:sp>
      <p:pic>
        <p:nvPicPr>
          <p:cNvPr id="4" name="Picture 3" descr="A logo of a person with a book&#10;&#10;AI-generated content may be incorrect.">
            <a:extLst>
              <a:ext uri="{FF2B5EF4-FFF2-40B4-BE49-F238E27FC236}">
                <a16:creationId xmlns:a16="http://schemas.microsoft.com/office/drawing/2014/main" id="{E6085C31-BE13-6B85-5CB5-B6C7F367F149}"/>
              </a:ext>
            </a:extLst>
          </p:cNvPr>
          <p:cNvPicPr>
            <a:picLocks noChangeAspect="1"/>
          </p:cNvPicPr>
          <p:nvPr/>
        </p:nvPicPr>
        <p:blipFill>
          <a:blip r:embed="rId3"/>
          <a:stretch>
            <a:fillRect/>
          </a:stretch>
        </p:blipFill>
        <p:spPr>
          <a:xfrm>
            <a:off x="3786923" y="347553"/>
            <a:ext cx="1573100" cy="152007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Project Overview</a:t>
            </a:r>
            <a:endParaRPr lang="en-US" sz="2400" dirty="0"/>
          </a:p>
        </p:txBody>
      </p:sp>
      <p:sp>
        <p:nvSpPr>
          <p:cNvPr id="5" name="Shape 3"/>
          <p:cNvSpPr/>
          <p:nvPr/>
        </p:nvSpPr>
        <p:spPr>
          <a:xfrm>
            <a:off x="201168" y="777240"/>
            <a:ext cx="1572768" cy="1920240"/>
          </a:xfrm>
          <a:prstGeom prst="roundRect">
            <a:avLst>
              <a:gd name="adj" fmla="val 10465"/>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201168" y="914400"/>
            <a:ext cx="157276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200367" y="1463040"/>
            <a:ext cx="1508760" cy="640080"/>
          </a:xfrm>
          <a:prstGeom prst="rect">
            <a:avLst/>
          </a:prstGeom>
          <a:noFill/>
          <a:ln/>
        </p:spPr>
        <p:txBody>
          <a:bodyPr wrap="square" lIns="91440" tIns="45720" rIns="91440" bIns="45720" rtlCol="0" anchor="ctr"/>
          <a:lstStyle/>
          <a:p>
            <a:pPr algn="ctr"/>
            <a:r>
              <a:rPr lang="en-US" b="1" dirty="0">
                <a:solidFill>
                  <a:srgbClr val="C9A227"/>
                </a:solidFill>
                <a:latin typeface="Georgia"/>
              </a:rPr>
              <a:t>User Friendly</a:t>
            </a:r>
          </a:p>
        </p:txBody>
      </p:sp>
      <p:sp>
        <p:nvSpPr>
          <p:cNvPr id="8" name="Text 6"/>
          <p:cNvSpPr/>
          <p:nvPr/>
        </p:nvSpPr>
        <p:spPr>
          <a:xfrm>
            <a:off x="265176" y="2103120"/>
            <a:ext cx="1508760" cy="502920"/>
          </a:xfrm>
          <a:prstGeom prst="rect">
            <a:avLst/>
          </a:prstGeom>
          <a:noFill/>
          <a:ln/>
        </p:spPr>
        <p:txBody>
          <a:bodyPr wrap="square" lIns="91440" tIns="45720" rIns="91440" bIns="45720" rtlCol="0" anchor="t"/>
          <a:lstStyle/>
          <a:p>
            <a:pPr marL="0" indent="0" algn="ctr">
              <a:buNone/>
            </a:pPr>
            <a:endParaRPr lang="en-US" sz="900" dirty="0">
              <a:solidFill>
                <a:srgbClr val="A0AEC0"/>
              </a:solidFill>
              <a:ea typeface="Calibri"/>
              <a:cs typeface="Calibri"/>
            </a:endParaRPr>
          </a:p>
        </p:txBody>
      </p:sp>
      <p:sp>
        <p:nvSpPr>
          <p:cNvPr id="9" name="Shape 7"/>
          <p:cNvSpPr/>
          <p:nvPr/>
        </p:nvSpPr>
        <p:spPr>
          <a:xfrm>
            <a:off x="1810512" y="777240"/>
            <a:ext cx="1572768" cy="1920240"/>
          </a:xfrm>
          <a:prstGeom prst="roundRect">
            <a:avLst>
              <a:gd name="adj" fmla="val 10465"/>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0" name="Text 8"/>
          <p:cNvSpPr/>
          <p:nvPr/>
        </p:nvSpPr>
        <p:spPr>
          <a:xfrm>
            <a:off x="1810512" y="914400"/>
            <a:ext cx="157276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Text 9"/>
          <p:cNvSpPr/>
          <p:nvPr/>
        </p:nvSpPr>
        <p:spPr>
          <a:xfrm>
            <a:off x="1874520" y="1463040"/>
            <a:ext cx="1508760" cy="640080"/>
          </a:xfrm>
          <a:prstGeom prst="rect">
            <a:avLst/>
          </a:prstGeom>
          <a:noFill/>
          <a:ln/>
        </p:spPr>
        <p:txBody>
          <a:bodyPr wrap="square" rtlCol="0" anchor="ctr"/>
          <a:lstStyle/>
          <a:p>
            <a:pPr marL="0" indent="0" algn="ctr">
              <a:buNone/>
            </a:pPr>
            <a:r>
              <a:rPr lang="en-US" sz="3000" b="1" dirty="0">
                <a:solidFill>
                  <a:srgbClr val="C9A227"/>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1874520" y="2103120"/>
            <a:ext cx="1508760" cy="502920"/>
          </a:xfrm>
          <a:prstGeom prst="rect">
            <a:avLst/>
          </a:prstGeom>
          <a:noFill/>
          <a:ln/>
        </p:spPr>
        <p:txBody>
          <a:bodyPr wrap="square" rtlCol="0" anchor="t"/>
          <a:lstStyle/>
          <a:p>
            <a:pPr marL="0" indent="0" algn="ctr">
              <a:buNone/>
            </a:pPr>
            <a:r>
              <a:rPr lang="en-US" sz="900" dirty="0">
                <a:solidFill>
                  <a:srgbClr val="A0AEC0"/>
                </a:solidFill>
                <a:latin typeface="Calibri" pitchFamily="34" charset="0"/>
                <a:ea typeface="Calibri" pitchFamily="34" charset="-122"/>
                <a:cs typeface="Calibri" pitchFamily="34" charset="-120"/>
              </a:rPr>
              <a:t>User</a:t>
            </a:r>
            <a:endParaRPr lang="en-US" sz="900" dirty="0"/>
          </a:p>
          <a:p>
            <a:pPr marL="0" indent="0" algn="ctr">
              <a:buNone/>
            </a:pPr>
            <a:r>
              <a:rPr lang="en-US" sz="900" dirty="0">
                <a:solidFill>
                  <a:srgbClr val="A0AEC0"/>
                </a:solidFill>
                <a:latin typeface="Calibri" pitchFamily="34" charset="0"/>
                <a:ea typeface="Calibri" pitchFamily="34" charset="-122"/>
                <a:cs typeface="Calibri" pitchFamily="34" charset="-120"/>
              </a:rPr>
              <a:t>Roles</a:t>
            </a:r>
            <a:endParaRPr lang="en-US" sz="900" dirty="0"/>
          </a:p>
        </p:txBody>
      </p:sp>
      <p:sp>
        <p:nvSpPr>
          <p:cNvPr id="13" name="Shape 11"/>
          <p:cNvSpPr/>
          <p:nvPr/>
        </p:nvSpPr>
        <p:spPr>
          <a:xfrm>
            <a:off x="3419856" y="777240"/>
            <a:ext cx="1572768" cy="1920240"/>
          </a:xfrm>
          <a:prstGeom prst="roundRect">
            <a:avLst>
              <a:gd name="adj" fmla="val 10465"/>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4" name="Text 12"/>
          <p:cNvSpPr/>
          <p:nvPr/>
        </p:nvSpPr>
        <p:spPr>
          <a:xfrm>
            <a:off x="3419856" y="914400"/>
            <a:ext cx="157276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3483864" y="1463040"/>
            <a:ext cx="1508760" cy="640080"/>
          </a:xfrm>
          <a:prstGeom prst="rect">
            <a:avLst/>
          </a:prstGeom>
          <a:noFill/>
          <a:ln/>
        </p:spPr>
        <p:txBody>
          <a:bodyPr wrap="square" rtlCol="0" anchor="ctr"/>
          <a:lstStyle/>
          <a:p>
            <a:pPr marL="0" indent="0" algn="ctr">
              <a:buNone/>
            </a:pPr>
            <a:r>
              <a:rPr lang="en-US" sz="3000" b="1" dirty="0">
                <a:solidFill>
                  <a:srgbClr val="C9A227"/>
                </a:solidFill>
                <a:latin typeface="Georgia" pitchFamily="34" charset="0"/>
                <a:ea typeface="Georgia" pitchFamily="34" charset="-122"/>
                <a:cs typeface="Georgia" pitchFamily="34" charset="-120"/>
              </a:rPr>
              <a:t>20+</a:t>
            </a:r>
            <a:endParaRPr lang="en-US" sz="3000" dirty="0"/>
          </a:p>
        </p:txBody>
      </p:sp>
      <p:sp>
        <p:nvSpPr>
          <p:cNvPr id="16" name="Text 14"/>
          <p:cNvSpPr/>
          <p:nvPr/>
        </p:nvSpPr>
        <p:spPr>
          <a:xfrm>
            <a:off x="3483864" y="2103120"/>
            <a:ext cx="1508760" cy="502920"/>
          </a:xfrm>
          <a:prstGeom prst="rect">
            <a:avLst/>
          </a:prstGeom>
          <a:noFill/>
          <a:ln/>
        </p:spPr>
        <p:txBody>
          <a:bodyPr wrap="square" lIns="91440" tIns="45720" rIns="91440" bIns="45720" rtlCol="0" anchor="t"/>
          <a:lstStyle/>
          <a:p>
            <a:pPr marL="0" indent="0" algn="ctr">
              <a:buNone/>
            </a:pPr>
            <a:endParaRPr lang="en-US" sz="900" dirty="0">
              <a:solidFill>
                <a:srgbClr val="A0AEC0"/>
              </a:solidFill>
              <a:ea typeface="Calibri"/>
              <a:cs typeface="Calibri"/>
            </a:endParaRPr>
          </a:p>
          <a:p>
            <a:pPr marL="0" indent="0" algn="ctr">
              <a:buNone/>
            </a:pPr>
            <a:r>
              <a:rPr lang="en-US" sz="900" dirty="0">
                <a:solidFill>
                  <a:srgbClr val="A0AEC0"/>
                </a:solidFill>
                <a:latin typeface="Calibri" pitchFamily="34" charset="0"/>
                <a:ea typeface="Calibri" pitchFamily="34" charset="-122"/>
                <a:cs typeface="Calibri" pitchFamily="34" charset="-120"/>
              </a:rPr>
              <a:t>Features</a:t>
            </a:r>
            <a:endParaRPr lang="en-US" sz="900" dirty="0"/>
          </a:p>
        </p:txBody>
      </p:sp>
      <p:sp>
        <p:nvSpPr>
          <p:cNvPr id="17" name="Shape 15"/>
          <p:cNvSpPr/>
          <p:nvPr/>
        </p:nvSpPr>
        <p:spPr>
          <a:xfrm>
            <a:off x="5029200" y="777240"/>
            <a:ext cx="1572768" cy="1920240"/>
          </a:xfrm>
          <a:prstGeom prst="roundRect">
            <a:avLst>
              <a:gd name="adj" fmla="val 10465"/>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8" name="Text 16"/>
          <p:cNvSpPr/>
          <p:nvPr/>
        </p:nvSpPr>
        <p:spPr>
          <a:xfrm>
            <a:off x="5029200" y="914400"/>
            <a:ext cx="157276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5093208" y="1463040"/>
            <a:ext cx="1508760" cy="640080"/>
          </a:xfrm>
          <a:prstGeom prst="rect">
            <a:avLst/>
          </a:prstGeom>
          <a:noFill/>
          <a:ln/>
        </p:spPr>
        <p:txBody>
          <a:bodyPr wrap="square" rtlCol="0" anchor="ctr"/>
          <a:lstStyle/>
          <a:p>
            <a:pPr marL="0" indent="0" algn="ctr">
              <a:buNone/>
            </a:pPr>
            <a:r>
              <a:rPr lang="en-US" sz="3000" b="1" dirty="0">
                <a:solidFill>
                  <a:srgbClr val="C9A227"/>
                </a:solidFill>
                <a:latin typeface="Georgia" pitchFamily="34" charset="0"/>
                <a:ea typeface="Georgia" pitchFamily="34" charset="-122"/>
                <a:cs typeface="Georgia" pitchFamily="34" charset="-120"/>
              </a:rPr>
              <a:t>100%</a:t>
            </a:r>
            <a:endParaRPr lang="en-US" sz="3000" dirty="0"/>
          </a:p>
        </p:txBody>
      </p:sp>
      <p:sp>
        <p:nvSpPr>
          <p:cNvPr id="20" name="Text 18"/>
          <p:cNvSpPr/>
          <p:nvPr/>
        </p:nvSpPr>
        <p:spPr>
          <a:xfrm>
            <a:off x="5093208" y="2103120"/>
            <a:ext cx="1508760" cy="502920"/>
          </a:xfrm>
          <a:prstGeom prst="rect">
            <a:avLst/>
          </a:prstGeom>
          <a:noFill/>
          <a:ln/>
        </p:spPr>
        <p:txBody>
          <a:bodyPr wrap="square" rtlCol="0" anchor="t"/>
          <a:lstStyle/>
          <a:p>
            <a:pPr marL="0" indent="0" algn="ctr">
              <a:buNone/>
            </a:pPr>
            <a:r>
              <a:rPr lang="en-US" sz="900" dirty="0">
                <a:solidFill>
                  <a:srgbClr val="A0AEC0"/>
                </a:solidFill>
                <a:latin typeface="Calibri" pitchFamily="34" charset="0"/>
                <a:ea typeface="Calibri" pitchFamily="34" charset="-122"/>
                <a:cs typeface="Calibri" pitchFamily="34" charset="-120"/>
              </a:rPr>
              <a:t>Cloud</a:t>
            </a:r>
            <a:endParaRPr lang="en-US" sz="900" dirty="0"/>
          </a:p>
          <a:p>
            <a:pPr marL="0" indent="0" algn="ctr">
              <a:buNone/>
            </a:pPr>
            <a:r>
              <a:rPr lang="en-US" sz="900" dirty="0">
                <a:solidFill>
                  <a:srgbClr val="A0AEC0"/>
                </a:solidFill>
                <a:latin typeface="Calibri" pitchFamily="34" charset="0"/>
                <a:ea typeface="Calibri" pitchFamily="34" charset="-122"/>
                <a:cs typeface="Calibri" pitchFamily="34" charset="-120"/>
              </a:rPr>
              <a:t>Based</a:t>
            </a:r>
            <a:endParaRPr lang="en-US" sz="900" dirty="0"/>
          </a:p>
        </p:txBody>
      </p:sp>
      <p:sp>
        <p:nvSpPr>
          <p:cNvPr id="21" name="Shape 19"/>
          <p:cNvSpPr/>
          <p:nvPr/>
        </p:nvSpPr>
        <p:spPr>
          <a:xfrm>
            <a:off x="6638544" y="777240"/>
            <a:ext cx="1572768" cy="1920240"/>
          </a:xfrm>
          <a:prstGeom prst="roundRect">
            <a:avLst>
              <a:gd name="adj" fmla="val 10465"/>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2" name="Text 20"/>
          <p:cNvSpPr/>
          <p:nvPr/>
        </p:nvSpPr>
        <p:spPr>
          <a:xfrm>
            <a:off x="6638544" y="914400"/>
            <a:ext cx="157276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3" name="Text 21"/>
          <p:cNvSpPr/>
          <p:nvPr/>
        </p:nvSpPr>
        <p:spPr>
          <a:xfrm>
            <a:off x="6702552" y="1463040"/>
            <a:ext cx="1508760" cy="640080"/>
          </a:xfrm>
          <a:prstGeom prst="rect">
            <a:avLst/>
          </a:prstGeom>
          <a:noFill/>
          <a:ln/>
        </p:spPr>
        <p:txBody>
          <a:bodyPr wrap="square" rtlCol="0" anchor="ctr"/>
          <a:lstStyle/>
          <a:p>
            <a:pPr marL="0" indent="0" algn="ctr">
              <a:buNone/>
            </a:pPr>
            <a:r>
              <a:rPr lang="en-US" sz="3000" b="1" dirty="0">
                <a:solidFill>
                  <a:srgbClr val="C9A227"/>
                </a:solidFill>
                <a:latin typeface="Georgia" pitchFamily="34" charset="0"/>
                <a:ea typeface="Georgia" pitchFamily="34" charset="-122"/>
                <a:cs typeface="Georgia" pitchFamily="34" charset="-120"/>
              </a:rPr>
              <a:t>AI</a:t>
            </a:r>
            <a:endParaRPr lang="en-US" sz="3000" dirty="0"/>
          </a:p>
        </p:txBody>
      </p:sp>
      <p:sp>
        <p:nvSpPr>
          <p:cNvPr id="24" name="Text 22"/>
          <p:cNvSpPr/>
          <p:nvPr/>
        </p:nvSpPr>
        <p:spPr>
          <a:xfrm>
            <a:off x="6702552" y="2103120"/>
            <a:ext cx="1508760" cy="502920"/>
          </a:xfrm>
          <a:prstGeom prst="rect">
            <a:avLst/>
          </a:prstGeom>
          <a:noFill/>
          <a:ln/>
        </p:spPr>
        <p:txBody>
          <a:bodyPr wrap="square" rtlCol="0" anchor="t"/>
          <a:lstStyle/>
          <a:p>
            <a:pPr marL="0" indent="0" algn="ctr">
              <a:buNone/>
            </a:pPr>
            <a:r>
              <a:rPr lang="en-US" sz="900" dirty="0">
                <a:solidFill>
                  <a:srgbClr val="A0AEC0"/>
                </a:solidFill>
                <a:latin typeface="Calibri" pitchFamily="34" charset="0"/>
                <a:ea typeface="Calibri" pitchFamily="34" charset="-122"/>
                <a:cs typeface="Calibri" pitchFamily="34" charset="-120"/>
              </a:rPr>
              <a:t>Powered</a:t>
            </a:r>
            <a:endParaRPr lang="en-US" sz="900" dirty="0"/>
          </a:p>
        </p:txBody>
      </p:sp>
      <p:sp>
        <p:nvSpPr>
          <p:cNvPr id="25" name="Shape 23"/>
          <p:cNvSpPr/>
          <p:nvPr/>
        </p:nvSpPr>
        <p:spPr>
          <a:xfrm>
            <a:off x="201168" y="2880360"/>
            <a:ext cx="8741664"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6" name="Text 24"/>
          <p:cNvSpPr/>
          <p:nvPr/>
        </p:nvSpPr>
        <p:spPr>
          <a:xfrm>
            <a:off x="320040" y="2971800"/>
            <a:ext cx="8503920" cy="1691640"/>
          </a:xfrm>
          <a:prstGeom prst="rect">
            <a:avLst/>
          </a:prstGeom>
          <a:noFill/>
          <a:ln/>
        </p:spPr>
        <p:txBody>
          <a:bodyPr wrap="square" lIns="91440" tIns="45720" rIns="91440" bIns="45720" rtlCol="0" anchor="ctr"/>
          <a:lstStyle/>
          <a:p>
            <a:pPr algn="ctr">
              <a:spcAft>
                <a:spcPts val="400"/>
              </a:spcAft>
            </a:pPr>
            <a:r>
              <a:rPr lang="en-US" sz="1150" dirty="0">
                <a:solidFill>
                  <a:srgbClr val="A0AEC0"/>
                </a:solidFill>
                <a:latin typeface="Calibri"/>
                <a:ea typeface="Calibri"/>
                <a:cs typeface="Calibri"/>
              </a:rPr>
              <a:t>KMC School Management System (KMC SMP) is a  web-based platform that streamlines academic processes, enhances communication between students, teachers, and parents. Features include real-time attendance tracking with charts, homework management, notices, parent feedback system with reply tracking, class chat with AI bot integration. Built on Firebase cloud infrastructure with Python automation and Gemini AI integration.</a:t>
            </a:r>
            <a:endParaRPr lang="en-US" sz="1150" dirty="0">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lIns="91440" tIns="45720" rIns="91440" bIns="45720" rtlCol="0" anchor="ctr"/>
          <a:lstStyle/>
          <a:p>
            <a:pPr marL="0" indent="0" algn="ctr">
              <a:buNone/>
            </a:pPr>
            <a:r>
              <a:rPr lang="en-US" sz="2400" b="1" dirty="0">
                <a:solidFill>
                  <a:srgbClr val="C9A227"/>
                </a:solidFill>
                <a:latin typeface="Georgia"/>
                <a:ea typeface="Georgia" pitchFamily="34" charset="-122"/>
                <a:cs typeface="Georgia" pitchFamily="34" charset="-120"/>
              </a:rPr>
              <a:t>Student Portal Features </a:t>
            </a:r>
            <a:endParaRPr lang="en-US" sz="2400" dirty="0">
              <a:latin typeface="Georgia"/>
            </a:endParaRPr>
          </a:p>
        </p:txBody>
      </p:sp>
      <p:sp>
        <p:nvSpPr>
          <p:cNvPr id="5" name="Shape 3"/>
          <p:cNvSpPr/>
          <p:nvPr/>
        </p:nvSpPr>
        <p:spPr>
          <a:xfrm>
            <a:off x="201168" y="749808"/>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2350008" y="795528"/>
            <a:ext cx="594360" cy="502920"/>
          </a:xfrm>
          <a:prstGeom prst="rect">
            <a:avLst/>
          </a:prstGeom>
          <a:noFill/>
          <a:ln/>
        </p:spPr>
        <p:txBody>
          <a:bodyPr wrap="square" rtlCol="0" anchor="t"/>
          <a:lstStyle/>
          <a:p>
            <a:pPr marL="0" indent="0" algn="r">
              <a:buNone/>
            </a:pPr>
            <a:r>
              <a:rPr lang="en-US" sz="2200" dirty="0">
                <a:solidFill>
                  <a:srgbClr val="C9A227">
                    <a:alpha val="40000"/>
                  </a:srgbClr>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365760" y="859536"/>
            <a:ext cx="2560320" cy="365760"/>
          </a:xfrm>
          <a:prstGeom prst="rect">
            <a:avLst/>
          </a:prstGeom>
          <a:noFill/>
          <a:ln/>
        </p:spPr>
        <p:txBody>
          <a:bodyPr wrap="square" rtlCol="0" anchor="ctr"/>
          <a:lstStyle/>
          <a:p>
            <a:pPr marL="0" indent="0">
              <a:buNone/>
            </a:pPr>
            <a:r>
              <a:rPr lang="en-US" sz="1300" b="1" dirty="0">
                <a:solidFill>
                  <a:srgbClr val="F8F9FA"/>
                </a:solidFill>
                <a:latin typeface="Georgia" pitchFamily="34" charset="0"/>
                <a:ea typeface="Georgia" pitchFamily="34" charset="-122"/>
                <a:cs typeface="Georgia" pitchFamily="34" charset="-120"/>
              </a:rPr>
              <a:t>📊  Dashboard</a:t>
            </a:r>
            <a:endParaRPr lang="en-US" sz="1300" dirty="0"/>
          </a:p>
        </p:txBody>
      </p:sp>
      <p:sp>
        <p:nvSpPr>
          <p:cNvPr id="8" name="Text 6"/>
          <p:cNvSpPr/>
          <p:nvPr/>
        </p:nvSpPr>
        <p:spPr>
          <a:xfrm>
            <a:off x="365760" y="1207008"/>
            <a:ext cx="2560320" cy="704088"/>
          </a:xfrm>
          <a:prstGeom prst="rect">
            <a:avLst/>
          </a:prstGeom>
          <a:noFill/>
          <a:ln/>
        </p:spPr>
        <p:txBody>
          <a:bodyPr wrap="square" rtlCol="0" anchor="t"/>
          <a:lstStyle/>
          <a:p>
            <a:pPr marL="0" indent="0">
              <a:buNone/>
            </a:pPr>
            <a:r>
              <a:rPr lang="en-US" sz="950" dirty="0">
                <a:solidFill>
                  <a:srgbClr val="A0AEC0"/>
                </a:solidFill>
                <a:latin typeface="Calibri" pitchFamily="34" charset="0"/>
                <a:ea typeface="Calibri" pitchFamily="34" charset="-122"/>
                <a:cs typeface="Calibri" pitchFamily="34" charset="-120"/>
              </a:rPr>
              <a:t>Personal welcome message, today's schedule, exam countdown timer, Nepal time integration.</a:t>
            </a:r>
            <a:endParaRPr lang="en-US" sz="950" dirty="0"/>
          </a:p>
        </p:txBody>
      </p:sp>
      <p:sp>
        <p:nvSpPr>
          <p:cNvPr id="9" name="Shape 7"/>
          <p:cNvSpPr/>
          <p:nvPr/>
        </p:nvSpPr>
        <p:spPr>
          <a:xfrm>
            <a:off x="3095244" y="749808"/>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0" name="Text 8"/>
          <p:cNvSpPr/>
          <p:nvPr/>
        </p:nvSpPr>
        <p:spPr>
          <a:xfrm>
            <a:off x="5244084" y="795528"/>
            <a:ext cx="594360" cy="502920"/>
          </a:xfrm>
          <a:prstGeom prst="rect">
            <a:avLst/>
          </a:prstGeom>
          <a:noFill/>
          <a:ln/>
        </p:spPr>
        <p:txBody>
          <a:bodyPr wrap="square" rtlCol="0" anchor="t"/>
          <a:lstStyle/>
          <a:p>
            <a:pPr marL="0" indent="0" algn="r">
              <a:buNone/>
            </a:pPr>
            <a:r>
              <a:rPr lang="en-US" sz="2200" dirty="0">
                <a:solidFill>
                  <a:srgbClr val="C9A227">
                    <a:alpha val="40000"/>
                  </a:srgbClr>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3259836" y="859536"/>
            <a:ext cx="2560320" cy="365760"/>
          </a:xfrm>
          <a:prstGeom prst="rect">
            <a:avLst/>
          </a:prstGeom>
          <a:noFill/>
          <a:ln/>
        </p:spPr>
        <p:txBody>
          <a:bodyPr wrap="square" rtlCol="0" anchor="ctr"/>
          <a:lstStyle/>
          <a:p>
            <a:pPr marL="0" indent="0">
              <a:buNone/>
            </a:pPr>
            <a:r>
              <a:rPr lang="en-US" sz="1300" b="1" dirty="0">
                <a:solidFill>
                  <a:srgbClr val="F8F9FA"/>
                </a:solidFill>
                <a:latin typeface="Georgia" pitchFamily="34" charset="0"/>
                <a:ea typeface="Georgia" pitchFamily="34" charset="-122"/>
                <a:cs typeface="Georgia" pitchFamily="34" charset="-120"/>
              </a:rPr>
              <a:t>📅  Timetable</a:t>
            </a:r>
            <a:endParaRPr lang="en-US" sz="1300" dirty="0"/>
          </a:p>
        </p:txBody>
      </p:sp>
      <p:sp>
        <p:nvSpPr>
          <p:cNvPr id="12" name="Text 10"/>
          <p:cNvSpPr/>
          <p:nvPr/>
        </p:nvSpPr>
        <p:spPr>
          <a:xfrm>
            <a:off x="3259836" y="1207008"/>
            <a:ext cx="2560320" cy="704088"/>
          </a:xfrm>
          <a:prstGeom prst="rect">
            <a:avLst/>
          </a:prstGeom>
          <a:noFill/>
          <a:ln/>
        </p:spPr>
        <p:txBody>
          <a:bodyPr wrap="square" rtlCol="0" anchor="t"/>
          <a:lstStyle/>
          <a:p>
            <a:pPr marL="0" indent="0">
              <a:buNone/>
            </a:pPr>
            <a:r>
              <a:rPr lang="en-US" sz="950" dirty="0">
                <a:solidFill>
                  <a:srgbClr val="A0AEC0"/>
                </a:solidFill>
                <a:latin typeface="Calibri" pitchFamily="34" charset="0"/>
                <a:ea typeface="Calibri" pitchFamily="34" charset="-122"/>
                <a:cs typeface="Calibri" pitchFamily="34" charset="-120"/>
              </a:rPr>
              <a:t>Interactive weekly schedule showing 8 periods daily (9:30 AM – 4:15 PM), live period highlighting.</a:t>
            </a:r>
            <a:endParaRPr lang="en-US" sz="950" dirty="0"/>
          </a:p>
        </p:txBody>
      </p:sp>
      <p:sp>
        <p:nvSpPr>
          <p:cNvPr id="13" name="Shape 11"/>
          <p:cNvSpPr/>
          <p:nvPr/>
        </p:nvSpPr>
        <p:spPr>
          <a:xfrm>
            <a:off x="5989320" y="749808"/>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4" name="Text 12"/>
          <p:cNvSpPr/>
          <p:nvPr/>
        </p:nvSpPr>
        <p:spPr>
          <a:xfrm>
            <a:off x="8138160" y="795528"/>
            <a:ext cx="594360" cy="502920"/>
          </a:xfrm>
          <a:prstGeom prst="rect">
            <a:avLst/>
          </a:prstGeom>
          <a:noFill/>
          <a:ln/>
        </p:spPr>
        <p:txBody>
          <a:bodyPr wrap="square" rtlCol="0" anchor="t"/>
          <a:lstStyle/>
          <a:p>
            <a:pPr marL="0" indent="0" algn="r">
              <a:buNone/>
            </a:pPr>
            <a:r>
              <a:rPr lang="en-US" sz="2200" dirty="0">
                <a:solidFill>
                  <a:srgbClr val="C9A227">
                    <a:alpha val="40000"/>
                  </a:srgbClr>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6153912" y="859536"/>
            <a:ext cx="2560320" cy="365760"/>
          </a:xfrm>
          <a:prstGeom prst="rect">
            <a:avLst/>
          </a:prstGeom>
          <a:noFill/>
          <a:ln/>
        </p:spPr>
        <p:txBody>
          <a:bodyPr wrap="square" rtlCol="0" anchor="ctr"/>
          <a:lstStyle/>
          <a:p>
            <a:pPr marL="0" indent="0">
              <a:buNone/>
            </a:pPr>
            <a:r>
              <a:rPr lang="en-US" sz="1300" b="1" dirty="0">
                <a:solidFill>
                  <a:srgbClr val="F8F9FA"/>
                </a:solidFill>
                <a:latin typeface="Georgia" pitchFamily="34" charset="0"/>
                <a:ea typeface="Georgia" pitchFamily="34" charset="-122"/>
                <a:cs typeface="Georgia" pitchFamily="34" charset="-120"/>
              </a:rPr>
              <a:t>📚  Homework</a:t>
            </a:r>
            <a:endParaRPr lang="en-US" sz="1300" dirty="0"/>
          </a:p>
        </p:txBody>
      </p:sp>
      <p:sp>
        <p:nvSpPr>
          <p:cNvPr id="16" name="Text 14"/>
          <p:cNvSpPr/>
          <p:nvPr/>
        </p:nvSpPr>
        <p:spPr>
          <a:xfrm>
            <a:off x="6153912" y="1207008"/>
            <a:ext cx="2560320" cy="704088"/>
          </a:xfrm>
          <a:prstGeom prst="rect">
            <a:avLst/>
          </a:prstGeom>
          <a:noFill/>
          <a:ln/>
        </p:spPr>
        <p:txBody>
          <a:bodyPr wrap="square" rtlCol="0" anchor="t"/>
          <a:lstStyle/>
          <a:p>
            <a:pPr marL="0" indent="0">
              <a:buNone/>
            </a:pPr>
            <a:r>
              <a:rPr lang="en-US" sz="950" dirty="0">
                <a:solidFill>
                  <a:srgbClr val="A0AEC0"/>
                </a:solidFill>
                <a:latin typeface="Calibri" pitchFamily="34" charset="0"/>
                <a:ea typeface="Calibri" pitchFamily="34" charset="-122"/>
                <a:cs typeface="Calibri" pitchFamily="34" charset="-120"/>
              </a:rPr>
              <a:t>View all assignments with title, description, due dates, and images. Real-time Firebase sync.</a:t>
            </a:r>
            <a:endParaRPr lang="en-US" sz="950" dirty="0"/>
          </a:p>
        </p:txBody>
      </p:sp>
      <p:sp>
        <p:nvSpPr>
          <p:cNvPr id="17" name="Shape 15"/>
          <p:cNvSpPr/>
          <p:nvPr/>
        </p:nvSpPr>
        <p:spPr>
          <a:xfrm>
            <a:off x="201168" y="2139696"/>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8" name="Text 16"/>
          <p:cNvSpPr/>
          <p:nvPr/>
        </p:nvSpPr>
        <p:spPr>
          <a:xfrm>
            <a:off x="2350008" y="2185416"/>
            <a:ext cx="594360" cy="502920"/>
          </a:xfrm>
          <a:prstGeom prst="rect">
            <a:avLst/>
          </a:prstGeom>
          <a:noFill/>
          <a:ln/>
        </p:spPr>
        <p:txBody>
          <a:bodyPr wrap="square" rtlCol="0" anchor="t"/>
          <a:lstStyle/>
          <a:p>
            <a:pPr marL="0" indent="0" algn="r">
              <a:buNone/>
            </a:pPr>
            <a:r>
              <a:rPr lang="en-US" sz="2200" dirty="0">
                <a:solidFill>
                  <a:srgbClr val="C9A227">
                    <a:alpha val="40000"/>
                  </a:srgbClr>
                </a:solidFill>
                <a:latin typeface="Georgia" pitchFamily="34" charset="0"/>
                <a:ea typeface="Georgia" pitchFamily="34" charset="-122"/>
                <a:cs typeface="Georgia" pitchFamily="34" charset="-120"/>
              </a:rPr>
              <a:t>04</a:t>
            </a:r>
            <a:endParaRPr lang="en-US" sz="2200" dirty="0"/>
          </a:p>
        </p:txBody>
      </p:sp>
      <p:sp>
        <p:nvSpPr>
          <p:cNvPr id="19" name="Text 17"/>
          <p:cNvSpPr/>
          <p:nvPr/>
        </p:nvSpPr>
        <p:spPr>
          <a:xfrm>
            <a:off x="365760" y="2249424"/>
            <a:ext cx="2560320" cy="365760"/>
          </a:xfrm>
          <a:prstGeom prst="rect">
            <a:avLst/>
          </a:prstGeom>
          <a:noFill/>
          <a:ln/>
        </p:spPr>
        <p:txBody>
          <a:bodyPr wrap="square" rtlCol="0" anchor="ctr"/>
          <a:lstStyle/>
          <a:p>
            <a:pPr marL="0" indent="0">
              <a:buNone/>
            </a:pPr>
            <a:r>
              <a:rPr lang="en-US" sz="1300" b="1" dirty="0">
                <a:solidFill>
                  <a:srgbClr val="F8F9FA"/>
                </a:solidFill>
                <a:latin typeface="Georgia" pitchFamily="34" charset="0"/>
                <a:ea typeface="Georgia" pitchFamily="34" charset="-122"/>
                <a:cs typeface="Georgia" pitchFamily="34" charset="-120"/>
              </a:rPr>
              <a:t>📢  Notices</a:t>
            </a:r>
            <a:endParaRPr lang="en-US" sz="1300" dirty="0"/>
          </a:p>
        </p:txBody>
      </p:sp>
      <p:sp>
        <p:nvSpPr>
          <p:cNvPr id="20" name="Text 18"/>
          <p:cNvSpPr/>
          <p:nvPr/>
        </p:nvSpPr>
        <p:spPr>
          <a:xfrm>
            <a:off x="365760" y="2596896"/>
            <a:ext cx="2560320" cy="704088"/>
          </a:xfrm>
          <a:prstGeom prst="rect">
            <a:avLst/>
          </a:prstGeom>
          <a:noFill/>
          <a:ln/>
        </p:spPr>
        <p:txBody>
          <a:bodyPr wrap="square" rtlCol="0" anchor="t"/>
          <a:lstStyle/>
          <a:p>
            <a:pPr marL="0" indent="0">
              <a:buNone/>
            </a:pPr>
            <a:r>
              <a:rPr lang="en-US" sz="950" dirty="0">
                <a:solidFill>
                  <a:srgbClr val="A0AEC0"/>
                </a:solidFill>
                <a:latin typeface="Calibri" pitchFamily="34" charset="0"/>
                <a:ea typeface="Calibri" pitchFamily="34" charset="-122"/>
                <a:cs typeface="Calibri" pitchFamily="34" charset="-120"/>
              </a:rPr>
              <a:t>School announcements, exam routines with Nepali dates, competition notices like KMC Hackathon 2026.</a:t>
            </a:r>
            <a:endParaRPr lang="en-US" sz="950" dirty="0"/>
          </a:p>
        </p:txBody>
      </p:sp>
      <p:sp>
        <p:nvSpPr>
          <p:cNvPr id="21" name="Shape 19"/>
          <p:cNvSpPr/>
          <p:nvPr/>
        </p:nvSpPr>
        <p:spPr>
          <a:xfrm>
            <a:off x="3095244" y="2139696"/>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2" name="Text 20"/>
          <p:cNvSpPr/>
          <p:nvPr/>
        </p:nvSpPr>
        <p:spPr>
          <a:xfrm>
            <a:off x="5244084" y="2185416"/>
            <a:ext cx="594360" cy="502920"/>
          </a:xfrm>
          <a:prstGeom prst="rect">
            <a:avLst/>
          </a:prstGeom>
          <a:noFill/>
          <a:ln/>
        </p:spPr>
        <p:txBody>
          <a:bodyPr wrap="square" lIns="91440" tIns="45720" rIns="91440" bIns="45720" rtlCol="0" anchor="t"/>
          <a:lstStyle/>
          <a:p>
            <a:pPr marL="0" indent="0" algn="r">
              <a:buNone/>
            </a:pPr>
            <a:r>
              <a:rPr lang="en-US" sz="2200" dirty="0">
                <a:solidFill>
                  <a:srgbClr val="C9A227">
                    <a:alpha val="40000"/>
                  </a:srgbClr>
                </a:solidFill>
                <a:latin typeface="Georgia"/>
              </a:rPr>
              <a:t>06</a:t>
            </a:r>
            <a:endParaRPr lang="en-US" sz="2200" dirty="0"/>
          </a:p>
        </p:txBody>
      </p:sp>
      <p:sp>
        <p:nvSpPr>
          <p:cNvPr id="23" name="Text 21"/>
          <p:cNvSpPr/>
          <p:nvPr/>
        </p:nvSpPr>
        <p:spPr>
          <a:xfrm>
            <a:off x="3259836" y="2249424"/>
            <a:ext cx="2560320" cy="365760"/>
          </a:xfrm>
          <a:prstGeom prst="rect">
            <a:avLst/>
          </a:prstGeom>
          <a:noFill/>
          <a:ln/>
        </p:spPr>
        <p:txBody>
          <a:bodyPr wrap="square" rtlCol="0" anchor="ctr"/>
          <a:lstStyle/>
          <a:p>
            <a:pPr marL="0" indent="0">
              <a:buNone/>
            </a:pPr>
            <a:r>
              <a:rPr lang="en-US" sz="1300" b="1" dirty="0">
                <a:solidFill>
                  <a:srgbClr val="F8F9FA"/>
                </a:solidFill>
                <a:latin typeface="Georgia" pitchFamily="34" charset="0"/>
                <a:ea typeface="Georgia" pitchFamily="34" charset="-122"/>
                <a:cs typeface="Georgia" pitchFamily="34" charset="-120"/>
              </a:rPr>
              <a:t>💬  Class Chat</a:t>
            </a:r>
            <a:endParaRPr lang="en-US" sz="1300" dirty="0"/>
          </a:p>
        </p:txBody>
      </p:sp>
      <p:sp>
        <p:nvSpPr>
          <p:cNvPr id="24" name="Text 22"/>
          <p:cNvSpPr/>
          <p:nvPr/>
        </p:nvSpPr>
        <p:spPr>
          <a:xfrm>
            <a:off x="3259836" y="2596896"/>
            <a:ext cx="2560320" cy="704088"/>
          </a:xfrm>
          <a:prstGeom prst="rect">
            <a:avLst/>
          </a:prstGeom>
          <a:noFill/>
          <a:ln/>
        </p:spPr>
        <p:txBody>
          <a:bodyPr wrap="square" lIns="91440" tIns="45720" rIns="91440" bIns="45720" rtlCol="0" anchor="t"/>
          <a:lstStyle/>
          <a:p>
            <a:r>
              <a:rPr lang="en-US" sz="950" dirty="0">
                <a:solidFill>
                  <a:srgbClr val="A0AEC0"/>
                </a:solidFill>
                <a:latin typeface="Calibri"/>
                <a:ea typeface="Calibri"/>
                <a:cs typeface="Calibri"/>
              </a:rPr>
              <a:t>Real-time messaging. Students can do @bot Question the AI bot to get instant answers to questions.</a:t>
            </a:r>
            <a:endParaRPr lang="en-US" sz="950" dirty="0">
              <a:latin typeface="Calibri"/>
              <a:ea typeface="Calibri"/>
              <a:cs typeface="Calibri"/>
            </a:endParaRPr>
          </a:p>
        </p:txBody>
      </p:sp>
      <p:sp>
        <p:nvSpPr>
          <p:cNvPr id="25" name="Shape 19">
            <a:extLst>
              <a:ext uri="{FF2B5EF4-FFF2-40B4-BE49-F238E27FC236}">
                <a16:creationId xmlns:a16="http://schemas.microsoft.com/office/drawing/2014/main" id="{CE9B4F63-B802-FD79-6091-86730E34956B}"/>
              </a:ext>
            </a:extLst>
          </p:cNvPr>
          <p:cNvSpPr/>
          <p:nvPr/>
        </p:nvSpPr>
        <p:spPr>
          <a:xfrm>
            <a:off x="5994415" y="2139695"/>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6" name="Text 21">
            <a:extLst>
              <a:ext uri="{FF2B5EF4-FFF2-40B4-BE49-F238E27FC236}">
                <a16:creationId xmlns:a16="http://schemas.microsoft.com/office/drawing/2014/main" id="{3FD98E13-F3FD-CFEA-38ED-A83D84317C16}"/>
              </a:ext>
            </a:extLst>
          </p:cNvPr>
          <p:cNvSpPr/>
          <p:nvPr/>
        </p:nvSpPr>
        <p:spPr>
          <a:xfrm>
            <a:off x="5992319" y="2207751"/>
            <a:ext cx="2560320" cy="365760"/>
          </a:xfrm>
          <a:prstGeom prst="rect">
            <a:avLst/>
          </a:prstGeom>
          <a:noFill/>
          <a:ln/>
        </p:spPr>
        <p:txBody>
          <a:bodyPr wrap="square" lIns="91440" tIns="45720" rIns="91440" bIns="45720" rtlCol="0" anchor="ctr"/>
          <a:lstStyle/>
          <a:p>
            <a:pPr marL="0" indent="0">
              <a:buNone/>
            </a:pPr>
            <a:r>
              <a:rPr lang="en-US" sz="1300" b="1" dirty="0">
                <a:solidFill>
                  <a:srgbClr val="F8F9FA"/>
                </a:solidFill>
                <a:latin typeface="Georgia"/>
              </a:rPr>
              <a:t>📆Calendar</a:t>
            </a:r>
          </a:p>
        </p:txBody>
      </p:sp>
      <p:sp>
        <p:nvSpPr>
          <p:cNvPr id="27" name="Text 22">
            <a:extLst>
              <a:ext uri="{FF2B5EF4-FFF2-40B4-BE49-F238E27FC236}">
                <a16:creationId xmlns:a16="http://schemas.microsoft.com/office/drawing/2014/main" id="{150F2183-2BA1-D9E2-23C7-BB115D36B280}"/>
              </a:ext>
            </a:extLst>
          </p:cNvPr>
          <p:cNvSpPr/>
          <p:nvPr/>
        </p:nvSpPr>
        <p:spPr>
          <a:xfrm>
            <a:off x="6105429" y="2596895"/>
            <a:ext cx="2560320" cy="704088"/>
          </a:xfrm>
          <a:prstGeom prst="rect">
            <a:avLst/>
          </a:prstGeom>
          <a:noFill/>
          <a:ln/>
        </p:spPr>
        <p:txBody>
          <a:bodyPr wrap="square" lIns="91440" tIns="45720" rIns="91440" bIns="45720" rtlCol="0" anchor="t"/>
          <a:lstStyle/>
          <a:p>
            <a:r>
              <a:rPr lang="en-US" sz="950" dirty="0">
                <a:solidFill>
                  <a:srgbClr val="A0AEC0"/>
                </a:solidFill>
                <a:latin typeface="Calibri"/>
                <a:ea typeface="Calibri"/>
                <a:cs typeface="Calibri"/>
              </a:rPr>
              <a:t>A calendar page is to view school events and holydays.</a:t>
            </a:r>
          </a:p>
        </p:txBody>
      </p:sp>
      <p:sp>
        <p:nvSpPr>
          <p:cNvPr id="28" name="Shape 19">
            <a:extLst>
              <a:ext uri="{FF2B5EF4-FFF2-40B4-BE49-F238E27FC236}">
                <a16:creationId xmlns:a16="http://schemas.microsoft.com/office/drawing/2014/main" id="{FBE5CEB0-0A5E-2600-7D85-26C7637ADFA2}"/>
              </a:ext>
            </a:extLst>
          </p:cNvPr>
          <p:cNvSpPr/>
          <p:nvPr/>
        </p:nvSpPr>
        <p:spPr>
          <a:xfrm>
            <a:off x="202024" y="3443429"/>
            <a:ext cx="2753202" cy="1317783"/>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9" name="Shape 19">
            <a:extLst>
              <a:ext uri="{FF2B5EF4-FFF2-40B4-BE49-F238E27FC236}">
                <a16:creationId xmlns:a16="http://schemas.microsoft.com/office/drawing/2014/main" id="{7702726D-4367-EAD3-24FC-6F429CDA8855}"/>
              </a:ext>
            </a:extLst>
          </p:cNvPr>
          <p:cNvSpPr/>
          <p:nvPr/>
        </p:nvSpPr>
        <p:spPr>
          <a:xfrm>
            <a:off x="3095242" y="3538678"/>
            <a:ext cx="2788920" cy="1234440"/>
          </a:xfrm>
          <a:prstGeom prst="roundRect">
            <a:avLst>
              <a:gd name="adj" fmla="val 13333"/>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0" name="Text 21">
            <a:extLst>
              <a:ext uri="{FF2B5EF4-FFF2-40B4-BE49-F238E27FC236}">
                <a16:creationId xmlns:a16="http://schemas.microsoft.com/office/drawing/2014/main" id="{8EE52623-2BBB-195B-4388-5B24C3326D4D}"/>
              </a:ext>
            </a:extLst>
          </p:cNvPr>
          <p:cNvSpPr/>
          <p:nvPr/>
        </p:nvSpPr>
        <p:spPr>
          <a:xfrm>
            <a:off x="199928" y="3684125"/>
            <a:ext cx="2560320" cy="365760"/>
          </a:xfrm>
          <a:prstGeom prst="rect">
            <a:avLst/>
          </a:prstGeom>
          <a:noFill/>
          <a:ln/>
        </p:spPr>
        <p:txBody>
          <a:bodyPr wrap="square" lIns="91440" tIns="45720" rIns="91440" bIns="45720" rtlCol="0" anchor="ctr"/>
          <a:lstStyle/>
          <a:p>
            <a:r>
              <a:rPr lang="en-US" sz="1300" b="1" dirty="0">
                <a:solidFill>
                  <a:srgbClr val="F8F9FA"/>
                </a:solidFill>
                <a:latin typeface="Georgia"/>
              </a:rPr>
              <a:t>🆔Digital ID Card</a:t>
            </a:r>
          </a:p>
        </p:txBody>
      </p:sp>
      <p:sp>
        <p:nvSpPr>
          <p:cNvPr id="31" name="Text 22">
            <a:extLst>
              <a:ext uri="{FF2B5EF4-FFF2-40B4-BE49-F238E27FC236}">
                <a16:creationId xmlns:a16="http://schemas.microsoft.com/office/drawing/2014/main" id="{5706E5D3-527F-5355-3A90-60479ECB1841}"/>
              </a:ext>
            </a:extLst>
          </p:cNvPr>
          <p:cNvSpPr/>
          <p:nvPr/>
        </p:nvSpPr>
        <p:spPr>
          <a:xfrm>
            <a:off x="271365" y="4156612"/>
            <a:ext cx="2560320" cy="704088"/>
          </a:xfrm>
          <a:prstGeom prst="rect">
            <a:avLst/>
          </a:prstGeom>
          <a:noFill/>
          <a:ln/>
        </p:spPr>
        <p:txBody>
          <a:bodyPr wrap="square" lIns="91440" tIns="45720" rIns="91440" bIns="45720" rtlCol="0" anchor="t"/>
          <a:lstStyle/>
          <a:p>
            <a:r>
              <a:rPr lang="en-US" sz="950" dirty="0">
                <a:solidFill>
                  <a:srgbClr val="A0AEC0"/>
                </a:solidFill>
                <a:latin typeface="Calibri"/>
                <a:ea typeface="Calibri"/>
                <a:cs typeface="Calibri"/>
              </a:rPr>
              <a:t>Digital ID card can be used if physical ID card is lost.</a:t>
            </a:r>
          </a:p>
        </p:txBody>
      </p:sp>
      <p:sp>
        <p:nvSpPr>
          <p:cNvPr id="32" name="Text 21">
            <a:extLst>
              <a:ext uri="{FF2B5EF4-FFF2-40B4-BE49-F238E27FC236}">
                <a16:creationId xmlns:a16="http://schemas.microsoft.com/office/drawing/2014/main" id="{E8EAE426-6307-230E-1D01-2E8DD7541DF7}"/>
              </a:ext>
            </a:extLst>
          </p:cNvPr>
          <p:cNvSpPr/>
          <p:nvPr/>
        </p:nvSpPr>
        <p:spPr>
          <a:xfrm>
            <a:off x="3093146" y="3630546"/>
            <a:ext cx="2560320" cy="365760"/>
          </a:xfrm>
          <a:prstGeom prst="rect">
            <a:avLst/>
          </a:prstGeom>
          <a:noFill/>
          <a:ln/>
        </p:spPr>
        <p:txBody>
          <a:bodyPr wrap="square" lIns="91440" tIns="45720" rIns="91440" bIns="45720" rtlCol="0" anchor="ctr"/>
          <a:lstStyle/>
          <a:p>
            <a:endParaRPr lang="en-US" sz="1300" b="1" dirty="0">
              <a:solidFill>
                <a:srgbClr val="F8F9FA"/>
              </a:solidFill>
              <a:latin typeface="Georgia"/>
            </a:endParaRPr>
          </a:p>
        </p:txBody>
      </p:sp>
      <p:sp>
        <p:nvSpPr>
          <p:cNvPr id="33" name="Text 21">
            <a:extLst>
              <a:ext uri="{FF2B5EF4-FFF2-40B4-BE49-F238E27FC236}">
                <a16:creationId xmlns:a16="http://schemas.microsoft.com/office/drawing/2014/main" id="{CD3864F3-0A9C-0AD2-FF2D-AB0EFAAB3899}"/>
              </a:ext>
            </a:extLst>
          </p:cNvPr>
          <p:cNvSpPr/>
          <p:nvPr/>
        </p:nvSpPr>
        <p:spPr>
          <a:xfrm>
            <a:off x="3206256" y="3630546"/>
            <a:ext cx="2560320" cy="365760"/>
          </a:xfrm>
          <a:prstGeom prst="rect">
            <a:avLst/>
          </a:prstGeom>
          <a:noFill/>
          <a:ln/>
        </p:spPr>
        <p:txBody>
          <a:bodyPr wrap="square" lIns="91440" tIns="45720" rIns="91440" bIns="45720" rtlCol="0" anchor="ctr"/>
          <a:lstStyle/>
          <a:p>
            <a:endParaRPr lang="en-US" sz="1300" b="1" dirty="0">
              <a:solidFill>
                <a:srgbClr val="F8F9FA"/>
              </a:solidFill>
              <a:latin typeface="Georgia"/>
            </a:endParaRPr>
          </a:p>
        </p:txBody>
      </p:sp>
      <p:sp>
        <p:nvSpPr>
          <p:cNvPr id="35" name="Text 22">
            <a:extLst>
              <a:ext uri="{FF2B5EF4-FFF2-40B4-BE49-F238E27FC236}">
                <a16:creationId xmlns:a16="http://schemas.microsoft.com/office/drawing/2014/main" id="{C749733A-E082-A591-5D82-690158F75643}"/>
              </a:ext>
            </a:extLst>
          </p:cNvPr>
          <p:cNvSpPr/>
          <p:nvPr/>
        </p:nvSpPr>
        <p:spPr>
          <a:xfrm>
            <a:off x="3200301" y="3995878"/>
            <a:ext cx="2560320" cy="704088"/>
          </a:xfrm>
          <a:prstGeom prst="rect">
            <a:avLst/>
          </a:prstGeom>
          <a:noFill/>
          <a:ln/>
        </p:spPr>
        <p:txBody>
          <a:bodyPr wrap="square" lIns="91440" tIns="45720" rIns="91440" bIns="45720" rtlCol="0" anchor="t"/>
          <a:lstStyle/>
          <a:p>
            <a:r>
              <a:rPr lang="en-US" sz="950" dirty="0">
                <a:solidFill>
                  <a:srgbClr val="A0AEC0"/>
                </a:solidFill>
                <a:latin typeface="Calibri"/>
                <a:ea typeface="Calibri"/>
                <a:cs typeface="Calibri"/>
              </a:rPr>
              <a:t>It has password based accounts.</a:t>
            </a:r>
          </a:p>
        </p:txBody>
      </p:sp>
      <p:sp>
        <p:nvSpPr>
          <p:cNvPr id="36" name="Text 20">
            <a:extLst>
              <a:ext uri="{FF2B5EF4-FFF2-40B4-BE49-F238E27FC236}">
                <a16:creationId xmlns:a16="http://schemas.microsoft.com/office/drawing/2014/main" id="{21C21D85-2B43-81B1-5CFD-30A4298D0572}"/>
              </a:ext>
            </a:extLst>
          </p:cNvPr>
          <p:cNvSpPr/>
          <p:nvPr/>
        </p:nvSpPr>
        <p:spPr>
          <a:xfrm>
            <a:off x="8071817" y="2179463"/>
            <a:ext cx="594360" cy="502920"/>
          </a:xfrm>
          <a:prstGeom prst="rect">
            <a:avLst/>
          </a:prstGeom>
          <a:noFill/>
          <a:ln/>
        </p:spPr>
        <p:txBody>
          <a:bodyPr wrap="square" lIns="91440" tIns="45720" rIns="91440" bIns="45720" rtlCol="0" anchor="t"/>
          <a:lstStyle/>
          <a:p>
            <a:pPr marL="0" indent="0" algn="r">
              <a:buNone/>
            </a:pPr>
            <a:r>
              <a:rPr lang="en-US" sz="2200" dirty="0">
                <a:solidFill>
                  <a:srgbClr val="C9A227">
                    <a:alpha val="40000"/>
                  </a:srgbClr>
                </a:solidFill>
                <a:latin typeface="Georgia"/>
              </a:rPr>
              <a:t>07</a:t>
            </a:r>
            <a:endParaRPr lang="en-US" sz="2200" dirty="0"/>
          </a:p>
        </p:txBody>
      </p:sp>
      <p:sp>
        <p:nvSpPr>
          <p:cNvPr id="37" name="Text 20">
            <a:extLst>
              <a:ext uri="{FF2B5EF4-FFF2-40B4-BE49-F238E27FC236}">
                <a16:creationId xmlns:a16="http://schemas.microsoft.com/office/drawing/2014/main" id="{79F02DF6-E50A-47A7-4C69-67B9DC4BA7A9}"/>
              </a:ext>
            </a:extLst>
          </p:cNvPr>
          <p:cNvSpPr/>
          <p:nvPr/>
        </p:nvSpPr>
        <p:spPr>
          <a:xfrm>
            <a:off x="2237755" y="3441524"/>
            <a:ext cx="594360" cy="502920"/>
          </a:xfrm>
          <a:prstGeom prst="rect">
            <a:avLst/>
          </a:prstGeom>
          <a:noFill/>
          <a:ln/>
        </p:spPr>
        <p:txBody>
          <a:bodyPr wrap="square" lIns="91440" tIns="45720" rIns="91440" bIns="45720" rtlCol="0" anchor="t"/>
          <a:lstStyle/>
          <a:p>
            <a:pPr marL="0" indent="0" algn="r">
              <a:buNone/>
            </a:pPr>
            <a:r>
              <a:rPr lang="en-US" sz="2200" dirty="0">
                <a:solidFill>
                  <a:srgbClr val="C9A227">
                    <a:alpha val="40000"/>
                  </a:srgbClr>
                </a:solidFill>
                <a:latin typeface="Georgia"/>
              </a:rPr>
              <a:t>08</a:t>
            </a:r>
            <a:endParaRPr lang="en-US" sz="2200" dirty="0"/>
          </a:p>
        </p:txBody>
      </p:sp>
      <p:sp>
        <p:nvSpPr>
          <p:cNvPr id="38" name="Text 20">
            <a:extLst>
              <a:ext uri="{FF2B5EF4-FFF2-40B4-BE49-F238E27FC236}">
                <a16:creationId xmlns:a16="http://schemas.microsoft.com/office/drawing/2014/main" id="{7A2F9C57-E424-0774-E394-8453BE7F0E10}"/>
              </a:ext>
            </a:extLst>
          </p:cNvPr>
          <p:cNvSpPr/>
          <p:nvPr/>
        </p:nvSpPr>
        <p:spPr>
          <a:xfrm>
            <a:off x="5226224" y="3489149"/>
            <a:ext cx="594360" cy="502920"/>
          </a:xfrm>
          <a:prstGeom prst="rect">
            <a:avLst/>
          </a:prstGeom>
          <a:noFill/>
          <a:ln/>
        </p:spPr>
        <p:txBody>
          <a:bodyPr wrap="square" lIns="91440" tIns="45720" rIns="91440" bIns="45720" rtlCol="0" anchor="t"/>
          <a:lstStyle/>
          <a:p>
            <a:pPr marL="0" indent="0" algn="r">
              <a:buNone/>
            </a:pPr>
            <a:r>
              <a:rPr lang="en-US" sz="2200" dirty="0">
                <a:solidFill>
                  <a:srgbClr val="C9A227">
                    <a:alpha val="40000"/>
                  </a:srgbClr>
                </a:solidFill>
                <a:latin typeface="Georgia"/>
              </a:rPr>
              <a:t>09</a:t>
            </a:r>
            <a:endParaRPr lang="en-US" sz="2200" dirty="0"/>
          </a:p>
        </p:txBody>
      </p:sp>
      <p:sp>
        <p:nvSpPr>
          <p:cNvPr id="39" name="Text 21">
            <a:extLst>
              <a:ext uri="{FF2B5EF4-FFF2-40B4-BE49-F238E27FC236}">
                <a16:creationId xmlns:a16="http://schemas.microsoft.com/office/drawing/2014/main" id="{36A67666-2706-EB6F-FE95-FB8DCAACAE87}"/>
              </a:ext>
            </a:extLst>
          </p:cNvPr>
          <p:cNvSpPr/>
          <p:nvPr/>
        </p:nvSpPr>
        <p:spPr>
          <a:xfrm>
            <a:off x="3093147" y="3582921"/>
            <a:ext cx="2560320" cy="365760"/>
          </a:xfrm>
          <a:prstGeom prst="rect">
            <a:avLst/>
          </a:prstGeom>
          <a:noFill/>
          <a:ln/>
        </p:spPr>
        <p:txBody>
          <a:bodyPr wrap="square" lIns="91440" tIns="45720" rIns="91440" bIns="45720" rtlCol="0" anchor="ctr"/>
          <a:lstStyle/>
          <a:p>
            <a:r>
              <a:rPr lang="en-US" sz="1300" b="1" dirty="0">
                <a:solidFill>
                  <a:srgbClr val="F8F9FA"/>
                </a:solidFill>
                <a:latin typeface="Georgia"/>
              </a:rPr>
              <a:t>🔐Secure System</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17859"/>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lIns="91440" tIns="45720" rIns="91440" bIns="45720" rtlCol="0" anchor="ctr"/>
          <a:lstStyle/>
          <a:p>
            <a:pPr algn="ctr"/>
            <a:r>
              <a:rPr lang="en-US" sz="2400" b="1" dirty="0">
                <a:solidFill>
                  <a:srgbClr val="C9A227"/>
                </a:solidFill>
                <a:latin typeface="Georgia"/>
              </a:rPr>
              <a:t>Digital Timetable</a:t>
            </a:r>
          </a:p>
        </p:txBody>
      </p:sp>
      <p:pic>
        <p:nvPicPr>
          <p:cNvPr id="25" name="Picture 24" descr="A table with text on it&#10;&#10;AI-generated content may be incorrect.">
            <a:extLst>
              <a:ext uri="{FF2B5EF4-FFF2-40B4-BE49-F238E27FC236}">
                <a16:creationId xmlns:a16="http://schemas.microsoft.com/office/drawing/2014/main" id="{9CEACD90-063E-4CAA-403F-EF80048EE9DC}"/>
              </a:ext>
            </a:extLst>
          </p:cNvPr>
          <p:cNvPicPr>
            <a:picLocks noChangeAspect="1"/>
          </p:cNvPicPr>
          <p:nvPr/>
        </p:nvPicPr>
        <p:blipFill>
          <a:blip r:embed="rId3"/>
          <a:stretch>
            <a:fillRect/>
          </a:stretch>
        </p:blipFill>
        <p:spPr>
          <a:xfrm>
            <a:off x="0" y="677400"/>
            <a:ext cx="9143999" cy="2934397"/>
          </a:xfrm>
          <a:prstGeom prst="rect">
            <a:avLst/>
          </a:prstGeom>
        </p:spPr>
      </p:pic>
      <p:sp>
        <p:nvSpPr>
          <p:cNvPr id="27" name="TextBox 26">
            <a:extLst>
              <a:ext uri="{FF2B5EF4-FFF2-40B4-BE49-F238E27FC236}">
                <a16:creationId xmlns:a16="http://schemas.microsoft.com/office/drawing/2014/main" id="{48D826C7-3C67-4638-0476-C2FD19D9B980}"/>
              </a:ext>
            </a:extLst>
          </p:cNvPr>
          <p:cNvSpPr txBox="1"/>
          <p:nvPr/>
        </p:nvSpPr>
        <p:spPr>
          <a:xfrm>
            <a:off x="83854" y="3700107"/>
            <a:ext cx="875237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Calibri"/>
                <a:cs typeface="Calibri"/>
              </a:rPr>
              <a:t>Digital Timetable- Remembering daily timetable is very frustrating that’s why digital timetable helps students as it will show the timetable which is uploaded by teacher. They can also view which </a:t>
            </a:r>
            <a:r>
              <a:rPr lang="en-US" dirty="0">
                <a:solidFill>
                  <a:schemeClr val="bg1"/>
                </a:solidFill>
                <a:ea typeface="+mn-lt"/>
                <a:cs typeface="+mn-lt"/>
              </a:rPr>
              <a:t>period is running.</a:t>
            </a:r>
            <a:endParaRPr lang="en-US" dirty="0">
              <a:solidFill>
                <a:schemeClr val="bg1"/>
              </a:solidFill>
              <a:ea typeface="Calibri"/>
              <a:cs typeface="Calibri"/>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EA82FB5C-0D34-0541-498A-EC6D56EEA1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E9B02A-ED86-C1DE-06DC-18FC1F440911}"/>
              </a:ext>
            </a:extLst>
          </p:cNvPr>
          <p:cNvSpPr/>
          <p:nvPr/>
        </p:nvSpPr>
        <p:spPr>
          <a:xfrm>
            <a:off x="0" y="17859"/>
            <a:ext cx="9144000" cy="658368"/>
          </a:xfrm>
          <a:prstGeom prst="rect">
            <a:avLst/>
          </a:prstGeom>
          <a:solidFill>
            <a:srgbClr val="1E3A5F"/>
          </a:solidFill>
          <a:ln/>
        </p:spPr>
      </p:sp>
      <p:sp>
        <p:nvSpPr>
          <p:cNvPr id="3" name="Shape 1">
            <a:extLst>
              <a:ext uri="{FF2B5EF4-FFF2-40B4-BE49-F238E27FC236}">
                <a16:creationId xmlns:a16="http://schemas.microsoft.com/office/drawing/2014/main" id="{105EE566-8AC6-B600-1964-38531E124CDC}"/>
              </a:ext>
            </a:extLst>
          </p:cNvPr>
          <p:cNvSpPr/>
          <p:nvPr/>
        </p:nvSpPr>
        <p:spPr>
          <a:xfrm>
            <a:off x="3200400" y="566928"/>
            <a:ext cx="2743200" cy="73152"/>
          </a:xfrm>
          <a:prstGeom prst="roundRect">
            <a:avLst>
              <a:gd name="adj" fmla="val 50000"/>
            </a:avLst>
          </a:prstGeom>
          <a:solidFill>
            <a:srgbClr val="C9A227">
              <a:alpha val="70000"/>
            </a:srgbClr>
          </a:solidFill>
          <a:ln/>
        </p:spPr>
      </p:sp>
      <p:sp>
        <p:nvSpPr>
          <p:cNvPr id="4" name="Text 2">
            <a:extLst>
              <a:ext uri="{FF2B5EF4-FFF2-40B4-BE49-F238E27FC236}">
                <a16:creationId xmlns:a16="http://schemas.microsoft.com/office/drawing/2014/main" id="{C5EC800E-F41C-FA9E-13D8-D876209A5972}"/>
              </a:ext>
            </a:extLst>
          </p:cNvPr>
          <p:cNvSpPr/>
          <p:nvPr/>
        </p:nvSpPr>
        <p:spPr>
          <a:xfrm>
            <a:off x="274320" y="45720"/>
            <a:ext cx="8595360" cy="548640"/>
          </a:xfrm>
          <a:prstGeom prst="rect">
            <a:avLst/>
          </a:prstGeom>
          <a:noFill/>
          <a:ln/>
        </p:spPr>
        <p:txBody>
          <a:bodyPr wrap="square" lIns="91440" tIns="45720" rIns="91440" bIns="45720" rtlCol="0" anchor="ctr"/>
          <a:lstStyle/>
          <a:p>
            <a:pPr algn="ctr"/>
            <a:r>
              <a:rPr lang="en-US" sz="2400" b="1" dirty="0">
                <a:solidFill>
                  <a:srgbClr val="C9A227"/>
                </a:solidFill>
                <a:latin typeface="Georgia"/>
              </a:rPr>
              <a:t>Digital Diary</a:t>
            </a:r>
          </a:p>
        </p:txBody>
      </p:sp>
      <p:sp>
        <p:nvSpPr>
          <p:cNvPr id="27" name="TextBox 26">
            <a:extLst>
              <a:ext uri="{FF2B5EF4-FFF2-40B4-BE49-F238E27FC236}">
                <a16:creationId xmlns:a16="http://schemas.microsoft.com/office/drawing/2014/main" id="{4268B846-396C-D497-EAF0-05BB7F3486DB}"/>
              </a:ext>
            </a:extLst>
          </p:cNvPr>
          <p:cNvSpPr txBox="1"/>
          <p:nvPr/>
        </p:nvSpPr>
        <p:spPr>
          <a:xfrm>
            <a:off x="83854" y="3700107"/>
            <a:ext cx="87523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Calibri"/>
                <a:cs typeface="Calibri"/>
              </a:rPr>
              <a:t>Digital homework sender saves a lot of energy as writing in diary is time taking for students.</a:t>
            </a:r>
          </a:p>
        </p:txBody>
      </p:sp>
      <p:pic>
        <p:nvPicPr>
          <p:cNvPr id="5" name="Picture 4" descr="A screenshot of a computer&#10;&#10;AI-generated content may be incorrect.">
            <a:extLst>
              <a:ext uri="{FF2B5EF4-FFF2-40B4-BE49-F238E27FC236}">
                <a16:creationId xmlns:a16="http://schemas.microsoft.com/office/drawing/2014/main" id="{BD79E8D0-A774-02EA-6A41-1B2B63E16FEA}"/>
              </a:ext>
            </a:extLst>
          </p:cNvPr>
          <p:cNvPicPr>
            <a:picLocks noChangeAspect="1"/>
          </p:cNvPicPr>
          <p:nvPr/>
        </p:nvPicPr>
        <p:blipFill>
          <a:blip r:embed="rId3"/>
          <a:stretch>
            <a:fillRect/>
          </a:stretch>
        </p:blipFill>
        <p:spPr>
          <a:xfrm>
            <a:off x="1191" y="681037"/>
            <a:ext cx="4075510" cy="2799160"/>
          </a:xfrm>
          <a:prstGeom prst="rect">
            <a:avLst/>
          </a:prstGeom>
        </p:spPr>
      </p:pic>
    </p:spTree>
    <p:extLst>
      <p:ext uri="{BB962C8B-B14F-4D97-AF65-F5344CB8AC3E}">
        <p14:creationId xmlns:p14="http://schemas.microsoft.com/office/powerpoint/2010/main" val="417283823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359BD01-51AE-53C9-3809-42CC4ADF68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F64AD3-7E74-D9ED-69DE-4E11E64C951D}"/>
              </a:ext>
            </a:extLst>
          </p:cNvPr>
          <p:cNvSpPr/>
          <p:nvPr/>
        </p:nvSpPr>
        <p:spPr>
          <a:xfrm>
            <a:off x="0" y="17859"/>
            <a:ext cx="9144000" cy="658368"/>
          </a:xfrm>
          <a:prstGeom prst="rect">
            <a:avLst/>
          </a:prstGeom>
          <a:solidFill>
            <a:srgbClr val="1E3A5F"/>
          </a:solidFill>
          <a:ln/>
        </p:spPr>
      </p:sp>
      <p:sp>
        <p:nvSpPr>
          <p:cNvPr id="3" name="Shape 1">
            <a:extLst>
              <a:ext uri="{FF2B5EF4-FFF2-40B4-BE49-F238E27FC236}">
                <a16:creationId xmlns:a16="http://schemas.microsoft.com/office/drawing/2014/main" id="{005D5FD1-6C23-FDCB-F8E4-EAEDAD566909}"/>
              </a:ext>
            </a:extLst>
          </p:cNvPr>
          <p:cNvSpPr/>
          <p:nvPr/>
        </p:nvSpPr>
        <p:spPr>
          <a:xfrm>
            <a:off x="3200400" y="566928"/>
            <a:ext cx="2743200" cy="73152"/>
          </a:xfrm>
          <a:prstGeom prst="roundRect">
            <a:avLst>
              <a:gd name="adj" fmla="val 50000"/>
            </a:avLst>
          </a:prstGeom>
          <a:solidFill>
            <a:srgbClr val="C9A227">
              <a:alpha val="70000"/>
            </a:srgbClr>
          </a:solidFill>
          <a:ln/>
        </p:spPr>
      </p:sp>
      <p:sp>
        <p:nvSpPr>
          <p:cNvPr id="4" name="Text 2">
            <a:extLst>
              <a:ext uri="{FF2B5EF4-FFF2-40B4-BE49-F238E27FC236}">
                <a16:creationId xmlns:a16="http://schemas.microsoft.com/office/drawing/2014/main" id="{41C5CE40-2C81-EB99-64CC-DC5762DD612E}"/>
              </a:ext>
            </a:extLst>
          </p:cNvPr>
          <p:cNvSpPr/>
          <p:nvPr/>
        </p:nvSpPr>
        <p:spPr>
          <a:xfrm>
            <a:off x="274320" y="45720"/>
            <a:ext cx="8595360" cy="548640"/>
          </a:xfrm>
          <a:prstGeom prst="rect">
            <a:avLst/>
          </a:prstGeom>
          <a:noFill/>
          <a:ln/>
        </p:spPr>
        <p:txBody>
          <a:bodyPr wrap="square" lIns="91440" tIns="45720" rIns="91440" bIns="45720" rtlCol="0" anchor="ctr"/>
          <a:lstStyle/>
          <a:p>
            <a:pPr algn="ctr"/>
            <a:r>
              <a:rPr lang="en-US" sz="2400" b="1" dirty="0">
                <a:solidFill>
                  <a:srgbClr val="C9A227"/>
                </a:solidFill>
                <a:latin typeface="Georgia"/>
              </a:rPr>
              <a:t>Digital Diary</a:t>
            </a:r>
          </a:p>
        </p:txBody>
      </p:sp>
      <p:sp>
        <p:nvSpPr>
          <p:cNvPr id="27" name="TextBox 26">
            <a:extLst>
              <a:ext uri="{FF2B5EF4-FFF2-40B4-BE49-F238E27FC236}">
                <a16:creationId xmlns:a16="http://schemas.microsoft.com/office/drawing/2014/main" id="{5581552C-5AAE-B09D-FE4E-88068356E7A4}"/>
              </a:ext>
            </a:extLst>
          </p:cNvPr>
          <p:cNvSpPr txBox="1"/>
          <p:nvPr/>
        </p:nvSpPr>
        <p:spPr>
          <a:xfrm>
            <a:off x="510" y="4366857"/>
            <a:ext cx="875237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Calibri"/>
                <a:cs typeface="Calibri"/>
              </a:rPr>
              <a:t>Digital Notices saves a lot of paper which is wasted by school printing notice and saves time as students can view it any time through internet.</a:t>
            </a:r>
          </a:p>
        </p:txBody>
      </p:sp>
      <p:pic>
        <p:nvPicPr>
          <p:cNvPr id="6" name="Picture 5" descr="A screenshot of a web page&#10;&#10;AI-generated content may be incorrect.">
            <a:extLst>
              <a:ext uri="{FF2B5EF4-FFF2-40B4-BE49-F238E27FC236}">
                <a16:creationId xmlns:a16="http://schemas.microsoft.com/office/drawing/2014/main" id="{F08F99D2-B891-F9FC-127B-BAA592EB7CEB}"/>
              </a:ext>
            </a:extLst>
          </p:cNvPr>
          <p:cNvPicPr>
            <a:picLocks noChangeAspect="1"/>
          </p:cNvPicPr>
          <p:nvPr/>
        </p:nvPicPr>
        <p:blipFill>
          <a:blip r:embed="rId3"/>
          <a:stretch>
            <a:fillRect/>
          </a:stretch>
        </p:blipFill>
        <p:spPr>
          <a:xfrm>
            <a:off x="-2182" y="678656"/>
            <a:ext cx="3004739" cy="3690938"/>
          </a:xfrm>
          <a:prstGeom prst="rect">
            <a:avLst/>
          </a:prstGeom>
        </p:spPr>
      </p:pic>
    </p:spTree>
    <p:extLst>
      <p:ext uri="{BB962C8B-B14F-4D97-AF65-F5344CB8AC3E}">
        <p14:creationId xmlns:p14="http://schemas.microsoft.com/office/powerpoint/2010/main" val="13024800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F85B8D47-43DE-D8A8-7E3C-C3ACF27355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FC5B0D-249B-3017-8023-F61883CDD06A}"/>
              </a:ext>
            </a:extLst>
          </p:cNvPr>
          <p:cNvSpPr/>
          <p:nvPr/>
        </p:nvSpPr>
        <p:spPr>
          <a:xfrm>
            <a:off x="0" y="17859"/>
            <a:ext cx="9144000" cy="658368"/>
          </a:xfrm>
          <a:prstGeom prst="rect">
            <a:avLst/>
          </a:prstGeom>
          <a:solidFill>
            <a:srgbClr val="1E3A5F"/>
          </a:solidFill>
          <a:ln/>
        </p:spPr>
      </p:sp>
      <p:sp>
        <p:nvSpPr>
          <p:cNvPr id="3" name="Shape 1">
            <a:extLst>
              <a:ext uri="{FF2B5EF4-FFF2-40B4-BE49-F238E27FC236}">
                <a16:creationId xmlns:a16="http://schemas.microsoft.com/office/drawing/2014/main" id="{99D0BEEC-839F-1ED7-0CE4-7935FF09CBA3}"/>
              </a:ext>
            </a:extLst>
          </p:cNvPr>
          <p:cNvSpPr/>
          <p:nvPr/>
        </p:nvSpPr>
        <p:spPr>
          <a:xfrm>
            <a:off x="3200400" y="566928"/>
            <a:ext cx="2743200" cy="73152"/>
          </a:xfrm>
          <a:prstGeom prst="roundRect">
            <a:avLst>
              <a:gd name="adj" fmla="val 50000"/>
            </a:avLst>
          </a:prstGeom>
          <a:solidFill>
            <a:srgbClr val="C9A227">
              <a:alpha val="70000"/>
            </a:srgbClr>
          </a:solidFill>
          <a:ln/>
        </p:spPr>
      </p:sp>
      <p:sp>
        <p:nvSpPr>
          <p:cNvPr id="4" name="Text 2">
            <a:extLst>
              <a:ext uri="{FF2B5EF4-FFF2-40B4-BE49-F238E27FC236}">
                <a16:creationId xmlns:a16="http://schemas.microsoft.com/office/drawing/2014/main" id="{4E7EBAAD-43BF-91F6-6AB0-3699E53BCE57}"/>
              </a:ext>
            </a:extLst>
          </p:cNvPr>
          <p:cNvSpPr/>
          <p:nvPr/>
        </p:nvSpPr>
        <p:spPr>
          <a:xfrm>
            <a:off x="274320" y="45720"/>
            <a:ext cx="8595360" cy="548640"/>
          </a:xfrm>
          <a:prstGeom prst="rect">
            <a:avLst/>
          </a:prstGeom>
          <a:noFill/>
          <a:ln/>
        </p:spPr>
        <p:txBody>
          <a:bodyPr wrap="square" lIns="91440" tIns="45720" rIns="91440" bIns="45720" rtlCol="0" anchor="ctr"/>
          <a:lstStyle/>
          <a:p>
            <a:pPr algn="ctr"/>
            <a:r>
              <a:rPr lang="en-US" sz="2400" b="1" dirty="0">
                <a:solidFill>
                  <a:srgbClr val="C9A227"/>
                </a:solidFill>
                <a:latin typeface="Georgia"/>
              </a:rPr>
              <a:t>Chat App</a:t>
            </a:r>
          </a:p>
        </p:txBody>
      </p:sp>
      <p:sp>
        <p:nvSpPr>
          <p:cNvPr id="27" name="TextBox 26">
            <a:extLst>
              <a:ext uri="{FF2B5EF4-FFF2-40B4-BE49-F238E27FC236}">
                <a16:creationId xmlns:a16="http://schemas.microsoft.com/office/drawing/2014/main" id="{FB4C35CF-967F-D4D8-EFA5-8311B952AC1F}"/>
              </a:ext>
            </a:extLst>
          </p:cNvPr>
          <p:cNvSpPr txBox="1"/>
          <p:nvPr/>
        </p:nvSpPr>
        <p:spPr>
          <a:xfrm>
            <a:off x="510" y="4313279"/>
            <a:ext cx="87523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Calibri"/>
                <a:cs typeface="Calibri"/>
              </a:rPr>
              <a:t>A chat app to talk with students and have AI </a:t>
            </a:r>
            <a:r>
              <a:rPr lang="en-US" dirty="0">
                <a:solidFill>
                  <a:schemeClr val="bg1"/>
                </a:solidFill>
                <a:ea typeface="+mn-lt"/>
                <a:cs typeface="+mn-lt"/>
              </a:rPr>
              <a:t>Integration</a:t>
            </a:r>
            <a:r>
              <a:rPr lang="en-US" dirty="0">
                <a:solidFill>
                  <a:schemeClr val="bg1"/>
                </a:solidFill>
                <a:ea typeface="Calibri"/>
                <a:cs typeface="Calibri"/>
              </a:rPr>
              <a:t> to know answers of questions.</a:t>
            </a:r>
          </a:p>
        </p:txBody>
      </p:sp>
      <p:pic>
        <p:nvPicPr>
          <p:cNvPr id="6" name="Picture 5" descr="A screenshot of a web page&#10;&#10;AI-generated content may be incorrect.">
            <a:extLst>
              <a:ext uri="{FF2B5EF4-FFF2-40B4-BE49-F238E27FC236}">
                <a16:creationId xmlns:a16="http://schemas.microsoft.com/office/drawing/2014/main" id="{51BD4369-00A9-91C8-DCEC-CABACE6DD94A}"/>
              </a:ext>
            </a:extLst>
          </p:cNvPr>
          <p:cNvPicPr>
            <a:picLocks noChangeAspect="1"/>
          </p:cNvPicPr>
          <p:nvPr/>
        </p:nvPicPr>
        <p:blipFill>
          <a:blip r:embed="rId3"/>
          <a:stretch>
            <a:fillRect/>
          </a:stretch>
        </p:blipFill>
        <p:spPr>
          <a:xfrm>
            <a:off x="-3955057" y="887015"/>
            <a:ext cx="3004739" cy="3690938"/>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E409AAAE-ECF2-FB93-1632-04E74E456ADB}"/>
              </a:ext>
            </a:extLst>
          </p:cNvPr>
          <p:cNvPicPr>
            <a:picLocks noChangeAspect="1"/>
          </p:cNvPicPr>
          <p:nvPr/>
        </p:nvPicPr>
        <p:blipFill>
          <a:blip r:embed="rId4"/>
          <a:stretch>
            <a:fillRect/>
          </a:stretch>
        </p:blipFill>
        <p:spPr>
          <a:xfrm>
            <a:off x="0" y="659426"/>
            <a:ext cx="9007078" cy="3390070"/>
          </a:xfrm>
          <a:prstGeom prst="rect">
            <a:avLst/>
          </a:prstGeom>
        </p:spPr>
      </p:pic>
    </p:spTree>
    <p:extLst>
      <p:ext uri="{BB962C8B-B14F-4D97-AF65-F5344CB8AC3E}">
        <p14:creationId xmlns:p14="http://schemas.microsoft.com/office/powerpoint/2010/main" val="385196379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 Digital ID Card System</a:t>
            </a:r>
            <a:endParaRPr lang="en-US" sz="2400" dirty="0"/>
          </a:p>
        </p:txBody>
      </p:sp>
      <p:sp>
        <p:nvSpPr>
          <p:cNvPr id="5" name="Shape 3"/>
          <p:cNvSpPr/>
          <p:nvPr/>
        </p:nvSpPr>
        <p:spPr>
          <a:xfrm>
            <a:off x="201168" y="749808"/>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365760" y="859536"/>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Download ID Card</a:t>
            </a:r>
            <a:endParaRPr lang="en-US" sz="1250" dirty="0"/>
          </a:p>
        </p:txBody>
      </p:sp>
      <p:sp>
        <p:nvSpPr>
          <p:cNvPr id="7" name="Text 5"/>
          <p:cNvSpPr/>
          <p:nvPr/>
        </p:nvSpPr>
        <p:spPr>
          <a:xfrm>
            <a:off x="365760" y="1252728"/>
            <a:ext cx="4023360" cy="1371600"/>
          </a:xfrm>
          <a:prstGeom prst="rect">
            <a:avLst/>
          </a:prstGeom>
          <a:noFill/>
          <a:ln/>
        </p:spPr>
        <p:txBody>
          <a:bodyPr wrap="square" lIns="91440" tIns="45720" rIns="91440" bIns="45720"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One-click PNG download of student ID card</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High-resolution image (3x scale) via html2canvas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Auto-named file: KMC_ID_{StudentName}.png</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Professional card design with school branding</a:t>
            </a:r>
            <a:endParaRPr lang="en-US" sz="950" dirty="0"/>
          </a:p>
          <a:p>
            <a:pPr marL="342900" indent="-342900">
              <a:buSzPct val="100000"/>
              <a:buChar char="•"/>
            </a:pPr>
            <a:r>
              <a:rPr lang="en-US" sz="950" dirty="0">
                <a:solidFill>
                  <a:srgbClr val="A0AEC0"/>
                </a:solidFill>
                <a:latin typeface="Calibri"/>
                <a:ea typeface="Calibri"/>
                <a:cs typeface="Calibri"/>
              </a:rPr>
              <a:t>Includes QR code for verification</a:t>
            </a:r>
            <a:endParaRPr lang="en-US" sz="950" dirty="0">
              <a:latin typeface="Calibri"/>
              <a:ea typeface="Calibri"/>
              <a:cs typeface="Calibri"/>
            </a:endParaRPr>
          </a:p>
        </p:txBody>
      </p:sp>
      <p:sp>
        <p:nvSpPr>
          <p:cNvPr id="8" name="Shape 6"/>
          <p:cNvSpPr/>
          <p:nvPr/>
        </p:nvSpPr>
        <p:spPr>
          <a:xfrm>
            <a:off x="202216" y="2934605"/>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9" name="Text 7"/>
          <p:cNvSpPr/>
          <p:nvPr/>
        </p:nvSpPr>
        <p:spPr>
          <a:xfrm>
            <a:off x="277511" y="3181255"/>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QR Code Generation</a:t>
            </a:r>
            <a:endParaRPr lang="en-US" sz="1250" dirty="0"/>
          </a:p>
        </p:txBody>
      </p:sp>
      <p:sp>
        <p:nvSpPr>
          <p:cNvPr id="10" name="Text 8"/>
          <p:cNvSpPr/>
          <p:nvPr/>
        </p:nvSpPr>
        <p:spPr>
          <a:xfrm>
            <a:off x="277511" y="3770900"/>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Auto-generated unique code per student</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Code format: First2Letters + Last2Letters + Grade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Example: Ayaan Ansari, Grade 7 → AYAN7DG</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QR code size: 80x80 pixels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Embedded in ID card for scanning</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Generated using QRCode.js library</a:t>
            </a:r>
            <a:endParaRPr lang="en-US" sz="950" dirty="0"/>
          </a:p>
        </p:txBody>
      </p:sp>
      <p:pic>
        <p:nvPicPr>
          <p:cNvPr id="17" name="Picture 16" descr="A close up of a card&#10;&#10;AI-generated content may be incorrect.">
            <a:extLst>
              <a:ext uri="{FF2B5EF4-FFF2-40B4-BE49-F238E27FC236}">
                <a16:creationId xmlns:a16="http://schemas.microsoft.com/office/drawing/2014/main" id="{AD0E1F93-B28D-E57F-2C6F-CD28A2378D4A}"/>
              </a:ext>
            </a:extLst>
          </p:cNvPr>
          <p:cNvPicPr>
            <a:picLocks noChangeAspect="1"/>
          </p:cNvPicPr>
          <p:nvPr/>
        </p:nvPicPr>
        <p:blipFill>
          <a:blip r:embed="rId3"/>
          <a:stretch>
            <a:fillRect/>
          </a:stretch>
        </p:blipFill>
        <p:spPr>
          <a:xfrm>
            <a:off x="4620333" y="750093"/>
            <a:ext cx="2332209" cy="2928940"/>
          </a:xfrm>
          <a:prstGeom prst="rect">
            <a:avLst/>
          </a:prstGeom>
        </p:spPr>
      </p:pic>
      <p:sp>
        <p:nvSpPr>
          <p:cNvPr id="20" name="TextBox 19">
            <a:extLst>
              <a:ext uri="{FF2B5EF4-FFF2-40B4-BE49-F238E27FC236}">
                <a16:creationId xmlns:a16="http://schemas.microsoft.com/office/drawing/2014/main" id="{E60457C0-C1B1-F96E-B175-2D3621BF3D48}"/>
              </a:ext>
            </a:extLst>
          </p:cNvPr>
          <p:cNvSpPr txBox="1"/>
          <p:nvPr/>
        </p:nvSpPr>
        <p:spPr>
          <a:xfrm>
            <a:off x="4575153" y="3769240"/>
            <a:ext cx="43732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Calibri"/>
                <a:cs typeface="Calibri"/>
              </a:rPr>
              <a:t>Digital ID  card generated for students. If students will lose their ID card they can use this digital ID card.</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F35"/>
        </a:solidFill>
        <a:effectLst/>
      </p:bgPr>
    </p:bg>
    <p:spTree>
      <p:nvGrpSpPr>
        <p:cNvPr id="1" name="">
          <a:extLst>
            <a:ext uri="{FF2B5EF4-FFF2-40B4-BE49-F238E27FC236}">
              <a16:creationId xmlns:a16="http://schemas.microsoft.com/office/drawing/2014/main" id="{A48D7645-BBC7-909A-FD7A-65C198218B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90222B-5577-343A-361A-D1ED468428D3}"/>
              </a:ext>
            </a:extLst>
          </p:cNvPr>
          <p:cNvSpPr/>
          <p:nvPr/>
        </p:nvSpPr>
        <p:spPr>
          <a:xfrm>
            <a:off x="0" y="0"/>
            <a:ext cx="9144000" cy="658368"/>
          </a:xfrm>
          <a:prstGeom prst="rect">
            <a:avLst/>
          </a:prstGeom>
          <a:solidFill>
            <a:srgbClr val="1E3A5F"/>
          </a:solidFill>
          <a:ln/>
        </p:spPr>
      </p:sp>
      <p:sp>
        <p:nvSpPr>
          <p:cNvPr id="3" name="Shape 1">
            <a:extLst>
              <a:ext uri="{FF2B5EF4-FFF2-40B4-BE49-F238E27FC236}">
                <a16:creationId xmlns:a16="http://schemas.microsoft.com/office/drawing/2014/main" id="{62FEDF76-5D47-7C26-85E0-49C9F56CD135}"/>
              </a:ext>
            </a:extLst>
          </p:cNvPr>
          <p:cNvSpPr/>
          <p:nvPr/>
        </p:nvSpPr>
        <p:spPr>
          <a:xfrm>
            <a:off x="3200400" y="566928"/>
            <a:ext cx="2743200" cy="73152"/>
          </a:xfrm>
          <a:prstGeom prst="roundRect">
            <a:avLst>
              <a:gd name="adj" fmla="val 50000"/>
            </a:avLst>
          </a:prstGeom>
          <a:solidFill>
            <a:srgbClr val="C9A227">
              <a:alpha val="70000"/>
            </a:srgbClr>
          </a:solidFill>
          <a:ln/>
        </p:spPr>
      </p:sp>
      <p:sp>
        <p:nvSpPr>
          <p:cNvPr id="4" name="Text 2">
            <a:extLst>
              <a:ext uri="{FF2B5EF4-FFF2-40B4-BE49-F238E27FC236}">
                <a16:creationId xmlns:a16="http://schemas.microsoft.com/office/drawing/2014/main" id="{60E08D2B-8BD3-5AE7-24A0-693ED1E4EB7F}"/>
              </a:ext>
            </a:extLst>
          </p:cNvPr>
          <p:cNvSpPr/>
          <p:nvPr/>
        </p:nvSpPr>
        <p:spPr>
          <a:xfrm>
            <a:off x="274320" y="45720"/>
            <a:ext cx="8595360" cy="548640"/>
          </a:xfrm>
          <a:prstGeom prst="rect">
            <a:avLst/>
          </a:prstGeom>
          <a:noFill/>
          <a:ln/>
        </p:spPr>
        <p:txBody>
          <a:bodyPr wrap="square" lIns="91440" tIns="45720" rIns="91440" bIns="45720" rtlCol="0" anchor="ctr"/>
          <a:lstStyle/>
          <a:p>
            <a:pPr algn="ctr"/>
            <a:r>
              <a:rPr lang="en-US" sz="2400" b="1" dirty="0">
                <a:solidFill>
                  <a:srgbClr val="C9A227"/>
                </a:solidFill>
                <a:latin typeface="Georgia"/>
                <a:ea typeface="Georgia" pitchFamily="34" charset="-122"/>
                <a:cs typeface="Georgia" pitchFamily="34" charset="-120"/>
              </a:rPr>
              <a:t>🔒Secure Portal</a:t>
            </a:r>
            <a:endParaRPr lang="en-US" sz="2400" b="1" dirty="0">
              <a:solidFill>
                <a:schemeClr val="accent4"/>
              </a:solidFill>
              <a:latin typeface="Georgia"/>
            </a:endParaRPr>
          </a:p>
        </p:txBody>
      </p:sp>
      <p:sp>
        <p:nvSpPr>
          <p:cNvPr id="8" name="Shape 6">
            <a:extLst>
              <a:ext uri="{FF2B5EF4-FFF2-40B4-BE49-F238E27FC236}">
                <a16:creationId xmlns:a16="http://schemas.microsoft.com/office/drawing/2014/main" id="{1E15F9E3-E758-B949-9E26-C990C34A4C2D}"/>
              </a:ext>
            </a:extLst>
          </p:cNvPr>
          <p:cNvSpPr/>
          <p:nvPr/>
        </p:nvSpPr>
        <p:spPr>
          <a:xfrm>
            <a:off x="4690872" y="749808"/>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9" name="Text 7">
            <a:extLst>
              <a:ext uri="{FF2B5EF4-FFF2-40B4-BE49-F238E27FC236}">
                <a16:creationId xmlns:a16="http://schemas.microsoft.com/office/drawing/2014/main" id="{9B473283-40F2-C946-B5C2-6E6AF020AD22}"/>
              </a:ext>
            </a:extLst>
          </p:cNvPr>
          <p:cNvSpPr/>
          <p:nvPr/>
        </p:nvSpPr>
        <p:spPr>
          <a:xfrm>
            <a:off x="4855464" y="859536"/>
            <a:ext cx="4023360" cy="347472"/>
          </a:xfrm>
          <a:prstGeom prst="rect">
            <a:avLst/>
          </a:prstGeom>
          <a:noFill/>
          <a:ln/>
        </p:spPr>
        <p:txBody>
          <a:bodyPr wrap="square" lIns="91440" tIns="45720" rIns="91440" bIns="45720" rtlCol="0" anchor="ctr"/>
          <a:lstStyle/>
          <a:p>
            <a:r>
              <a:rPr lang="en-US" sz="1300" b="1" dirty="0">
                <a:solidFill>
                  <a:srgbClr val="C9A227"/>
                </a:solidFill>
                <a:latin typeface="Georgia"/>
                <a:ea typeface="Calibri"/>
                <a:cs typeface="Calibri"/>
              </a:rPr>
              <a:t>🔑 Password Management</a:t>
            </a:r>
            <a:endParaRPr lang="en-US" dirty="0"/>
          </a:p>
        </p:txBody>
      </p:sp>
      <p:sp>
        <p:nvSpPr>
          <p:cNvPr id="10" name="Text 8">
            <a:extLst>
              <a:ext uri="{FF2B5EF4-FFF2-40B4-BE49-F238E27FC236}">
                <a16:creationId xmlns:a16="http://schemas.microsoft.com/office/drawing/2014/main" id="{A4D82B22-C59C-C68C-71F7-C0B2701703A8}"/>
              </a:ext>
            </a:extLst>
          </p:cNvPr>
          <p:cNvSpPr/>
          <p:nvPr/>
        </p:nvSpPr>
        <p:spPr>
          <a:xfrm>
            <a:off x="4855464" y="1252728"/>
            <a:ext cx="4023360" cy="1371600"/>
          </a:xfrm>
          <a:prstGeom prst="rect">
            <a:avLst/>
          </a:prstGeom>
          <a:noFill/>
          <a:ln/>
        </p:spPr>
        <p:txBody>
          <a:bodyPr wrap="square" lIns="91440" tIns="45720" rIns="91440" bIns="45720" rtlCol="0" anchor="t"/>
          <a:lstStyle/>
          <a:p>
            <a:pPr marL="342900" indent="-342900">
              <a:buSzPct val="100000"/>
              <a:buFont typeface="Arial"/>
              <a:buChar char="•"/>
            </a:pPr>
            <a:r>
              <a:rPr lang="en-US" sz="1000" dirty="0">
                <a:solidFill>
                  <a:srgbClr val="A0AEC0"/>
                </a:solidFill>
                <a:ea typeface="Calibri"/>
                <a:cs typeface="Calibri"/>
              </a:rPr>
              <a:t>Password security system.</a:t>
            </a:r>
          </a:p>
          <a:p>
            <a:pPr marL="342900" indent="-342900">
              <a:buSzPct val="100000"/>
              <a:buFont typeface="Arial"/>
              <a:buChar char="•"/>
            </a:pPr>
            <a:r>
              <a:rPr lang="en-US" sz="1000" dirty="0">
                <a:solidFill>
                  <a:srgbClr val="A0AEC0"/>
                </a:solidFill>
                <a:ea typeface="Calibri"/>
                <a:cs typeface="Calibri"/>
              </a:rPr>
              <a:t>Can change account password from profile settings if any other student got access to their account</a:t>
            </a:r>
          </a:p>
          <a:p>
            <a:pPr marL="342900" indent="-342900">
              <a:buSzPct val="100000"/>
              <a:buFont typeface="Arial"/>
              <a:buChar char="•"/>
            </a:pPr>
            <a:endParaRPr lang="en-US" sz="1000" dirty="0">
              <a:solidFill>
                <a:srgbClr val="A0AEC0"/>
              </a:solidFill>
              <a:ea typeface="Calibri"/>
              <a:cs typeface="Calibri"/>
            </a:endParaRPr>
          </a:p>
          <a:p>
            <a:pPr marL="342900" indent="-342900">
              <a:buSzPct val="100000"/>
              <a:buChar char="•"/>
            </a:pPr>
            <a:endParaRPr lang="en-US" sz="950" dirty="0">
              <a:solidFill>
                <a:srgbClr val="A0AEC0"/>
              </a:solidFill>
              <a:ea typeface="Calibri"/>
              <a:cs typeface="Calibri"/>
            </a:endParaRPr>
          </a:p>
        </p:txBody>
      </p:sp>
      <p:sp>
        <p:nvSpPr>
          <p:cNvPr id="11" name="Shape 9">
            <a:extLst>
              <a:ext uri="{FF2B5EF4-FFF2-40B4-BE49-F238E27FC236}">
                <a16:creationId xmlns:a16="http://schemas.microsoft.com/office/drawing/2014/main" id="{CF767212-02F7-657A-E622-C2E4672C1393}"/>
              </a:ext>
            </a:extLst>
          </p:cNvPr>
          <p:cNvSpPr/>
          <p:nvPr/>
        </p:nvSpPr>
        <p:spPr>
          <a:xfrm>
            <a:off x="141637" y="751046"/>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2" name="Text 10">
            <a:extLst>
              <a:ext uri="{FF2B5EF4-FFF2-40B4-BE49-F238E27FC236}">
                <a16:creationId xmlns:a16="http://schemas.microsoft.com/office/drawing/2014/main" id="{B1E79273-845A-FDF4-14D6-6439DDA83BFE}"/>
              </a:ext>
            </a:extLst>
          </p:cNvPr>
          <p:cNvSpPr/>
          <p:nvPr/>
        </p:nvSpPr>
        <p:spPr>
          <a:xfrm>
            <a:off x="365760" y="866727"/>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Security &amp; Sessions</a:t>
            </a:r>
            <a:endParaRPr lang="en-US" sz="1250" dirty="0"/>
          </a:p>
        </p:txBody>
      </p:sp>
      <p:sp>
        <p:nvSpPr>
          <p:cNvPr id="13" name="Text 11">
            <a:extLst>
              <a:ext uri="{FF2B5EF4-FFF2-40B4-BE49-F238E27FC236}">
                <a16:creationId xmlns:a16="http://schemas.microsoft.com/office/drawing/2014/main" id="{149BA2FD-D8A9-8165-BAE3-ECCB1C6BBE58}"/>
              </a:ext>
            </a:extLst>
          </p:cNvPr>
          <p:cNvSpPr/>
          <p:nvPr/>
        </p:nvSpPr>
        <p:spPr>
          <a:xfrm>
            <a:off x="252651" y="1200388"/>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Single device enforcement policy</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Unique session token per login</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Real-time session monitoring via Firebase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Auto-logout when new device logs in</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Login history with device &amp; browser info</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Kick notification when session expires</a:t>
            </a:r>
            <a:endParaRPr lang="en-US" sz="950" dirty="0"/>
          </a:p>
        </p:txBody>
      </p:sp>
    </p:spTree>
    <p:extLst>
      <p:ext uri="{BB962C8B-B14F-4D97-AF65-F5344CB8AC3E}">
        <p14:creationId xmlns:p14="http://schemas.microsoft.com/office/powerpoint/2010/main" val="162077479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Teacher Portal Features</a:t>
            </a:r>
            <a:endParaRPr lang="en-US" sz="2400" dirty="0"/>
          </a:p>
        </p:txBody>
      </p:sp>
      <p:sp>
        <p:nvSpPr>
          <p:cNvPr id="5" name="Shape 3"/>
          <p:cNvSpPr/>
          <p:nvPr/>
        </p:nvSpPr>
        <p:spPr>
          <a:xfrm>
            <a:off x="201168" y="749808"/>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2350008" y="795528"/>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365760" y="841248"/>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Dashboard</a:t>
            </a:r>
            <a:endParaRPr lang="en-US" sz="1200" dirty="0"/>
          </a:p>
        </p:txBody>
      </p:sp>
      <p:sp>
        <p:nvSpPr>
          <p:cNvPr id="8" name="Text 6"/>
          <p:cNvSpPr/>
          <p:nvPr/>
        </p:nvSpPr>
        <p:spPr>
          <a:xfrm>
            <a:off x="365760" y="1152144"/>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Overview of today's schedule, period status, exam countdown, and latest school notices.</a:t>
            </a:r>
            <a:endParaRPr lang="en-US" sz="900" dirty="0"/>
          </a:p>
        </p:txBody>
      </p:sp>
      <p:sp>
        <p:nvSpPr>
          <p:cNvPr id="9" name="Shape 7"/>
          <p:cNvSpPr/>
          <p:nvPr/>
        </p:nvSpPr>
        <p:spPr>
          <a:xfrm>
            <a:off x="3095244" y="749808"/>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0" name="Text 8"/>
          <p:cNvSpPr/>
          <p:nvPr/>
        </p:nvSpPr>
        <p:spPr>
          <a:xfrm>
            <a:off x="5244084" y="795528"/>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3259836" y="841248"/>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Attendance</a:t>
            </a:r>
            <a:endParaRPr lang="en-US" sz="1200" dirty="0"/>
          </a:p>
        </p:txBody>
      </p:sp>
      <p:sp>
        <p:nvSpPr>
          <p:cNvPr id="12" name="Text 10"/>
          <p:cNvSpPr/>
          <p:nvPr/>
        </p:nvSpPr>
        <p:spPr>
          <a:xfrm>
            <a:off x="3259836" y="1152144"/>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Mark Present/Absent/Late. Daily charts, weekly/monthly/yearly analytics, Nepali date converter.</a:t>
            </a:r>
            <a:endParaRPr lang="en-US" sz="900" dirty="0"/>
          </a:p>
        </p:txBody>
      </p:sp>
      <p:sp>
        <p:nvSpPr>
          <p:cNvPr id="13" name="Shape 11"/>
          <p:cNvSpPr/>
          <p:nvPr/>
        </p:nvSpPr>
        <p:spPr>
          <a:xfrm>
            <a:off x="5989320" y="749808"/>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4" name="Text 12"/>
          <p:cNvSpPr/>
          <p:nvPr/>
        </p:nvSpPr>
        <p:spPr>
          <a:xfrm>
            <a:off x="8138160" y="795528"/>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03</a:t>
            </a:r>
            <a:endParaRPr lang="en-US" sz="2000" dirty="0"/>
          </a:p>
        </p:txBody>
      </p:sp>
      <p:sp>
        <p:nvSpPr>
          <p:cNvPr id="15" name="Text 13"/>
          <p:cNvSpPr/>
          <p:nvPr/>
        </p:nvSpPr>
        <p:spPr>
          <a:xfrm>
            <a:off x="6153912" y="841248"/>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Homework Manager</a:t>
            </a:r>
            <a:endParaRPr lang="en-US" sz="1200" dirty="0"/>
          </a:p>
        </p:txBody>
      </p:sp>
      <p:sp>
        <p:nvSpPr>
          <p:cNvPr id="16" name="Text 14"/>
          <p:cNvSpPr/>
          <p:nvPr/>
        </p:nvSpPr>
        <p:spPr>
          <a:xfrm>
            <a:off x="6153912" y="1152144"/>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Create, edit, delete assignments with title, description, due dates. Real-time Firebase sync.</a:t>
            </a:r>
            <a:endParaRPr lang="en-US" sz="900" dirty="0"/>
          </a:p>
        </p:txBody>
      </p:sp>
      <p:sp>
        <p:nvSpPr>
          <p:cNvPr id="17" name="Shape 15"/>
          <p:cNvSpPr/>
          <p:nvPr/>
        </p:nvSpPr>
        <p:spPr>
          <a:xfrm>
            <a:off x="201168" y="1956816"/>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8" name="Text 16"/>
          <p:cNvSpPr/>
          <p:nvPr/>
        </p:nvSpPr>
        <p:spPr>
          <a:xfrm>
            <a:off x="2350008" y="2002536"/>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04</a:t>
            </a:r>
            <a:endParaRPr lang="en-US" sz="2000" dirty="0"/>
          </a:p>
        </p:txBody>
      </p:sp>
      <p:sp>
        <p:nvSpPr>
          <p:cNvPr id="19" name="Text 17"/>
          <p:cNvSpPr/>
          <p:nvPr/>
        </p:nvSpPr>
        <p:spPr>
          <a:xfrm>
            <a:off x="365760" y="2048256"/>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Timetable Editor</a:t>
            </a:r>
            <a:endParaRPr lang="en-US" sz="1200" dirty="0"/>
          </a:p>
        </p:txBody>
      </p:sp>
      <p:sp>
        <p:nvSpPr>
          <p:cNvPr id="20" name="Text 18"/>
          <p:cNvSpPr/>
          <p:nvPr/>
        </p:nvSpPr>
        <p:spPr>
          <a:xfrm>
            <a:off x="365760" y="2359152"/>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Fully editable 8-period schedule. Click any cell to modify, cloud sync to Firebase.</a:t>
            </a:r>
            <a:endParaRPr lang="en-US" sz="900" dirty="0"/>
          </a:p>
        </p:txBody>
      </p:sp>
      <p:sp>
        <p:nvSpPr>
          <p:cNvPr id="21" name="Shape 19"/>
          <p:cNvSpPr/>
          <p:nvPr/>
        </p:nvSpPr>
        <p:spPr>
          <a:xfrm>
            <a:off x="3095244" y="1956816"/>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2" name="Text 20"/>
          <p:cNvSpPr/>
          <p:nvPr/>
        </p:nvSpPr>
        <p:spPr>
          <a:xfrm>
            <a:off x="5244084" y="2002536"/>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05</a:t>
            </a:r>
            <a:endParaRPr lang="en-US" sz="2000" dirty="0"/>
          </a:p>
        </p:txBody>
      </p:sp>
      <p:sp>
        <p:nvSpPr>
          <p:cNvPr id="23" name="Text 21"/>
          <p:cNvSpPr/>
          <p:nvPr/>
        </p:nvSpPr>
        <p:spPr>
          <a:xfrm>
            <a:off x="3259836" y="2048256"/>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Notice Board</a:t>
            </a:r>
            <a:endParaRPr lang="en-US" sz="1200" dirty="0"/>
          </a:p>
        </p:txBody>
      </p:sp>
      <p:sp>
        <p:nvSpPr>
          <p:cNvPr id="24" name="Text 22"/>
          <p:cNvSpPr/>
          <p:nvPr/>
        </p:nvSpPr>
        <p:spPr>
          <a:xfrm>
            <a:off x="3259836" y="2359152"/>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Publish announcements with tags (Exam, Competition, Event). Include exam routines with tables.</a:t>
            </a:r>
            <a:endParaRPr lang="en-US" sz="900" dirty="0"/>
          </a:p>
        </p:txBody>
      </p:sp>
      <p:sp>
        <p:nvSpPr>
          <p:cNvPr id="25" name="Shape 23"/>
          <p:cNvSpPr/>
          <p:nvPr/>
        </p:nvSpPr>
        <p:spPr>
          <a:xfrm>
            <a:off x="5989320" y="1956816"/>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6" name="Text 24"/>
          <p:cNvSpPr/>
          <p:nvPr/>
        </p:nvSpPr>
        <p:spPr>
          <a:xfrm>
            <a:off x="8138160" y="2002536"/>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06</a:t>
            </a:r>
            <a:endParaRPr lang="en-US" sz="2000" dirty="0"/>
          </a:p>
        </p:txBody>
      </p:sp>
      <p:sp>
        <p:nvSpPr>
          <p:cNvPr id="27" name="Text 25"/>
          <p:cNvSpPr/>
          <p:nvPr/>
        </p:nvSpPr>
        <p:spPr>
          <a:xfrm>
            <a:off x="6153912" y="2048256"/>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To-Do / Resources</a:t>
            </a:r>
            <a:endParaRPr lang="en-US" sz="1200" dirty="0"/>
          </a:p>
        </p:txBody>
      </p:sp>
      <p:sp>
        <p:nvSpPr>
          <p:cNvPr id="28" name="Text 26"/>
          <p:cNvSpPr/>
          <p:nvPr/>
        </p:nvSpPr>
        <p:spPr>
          <a:xfrm>
            <a:off x="6153912" y="2359152"/>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Post materials and reminders with optional links. Categories: Reminder and Material.</a:t>
            </a:r>
            <a:endParaRPr lang="en-US" sz="900" dirty="0"/>
          </a:p>
        </p:txBody>
      </p:sp>
      <p:sp>
        <p:nvSpPr>
          <p:cNvPr id="29" name="Shape 27"/>
          <p:cNvSpPr/>
          <p:nvPr/>
        </p:nvSpPr>
        <p:spPr>
          <a:xfrm>
            <a:off x="201168" y="3163824"/>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0" name="Text 28"/>
          <p:cNvSpPr/>
          <p:nvPr/>
        </p:nvSpPr>
        <p:spPr>
          <a:xfrm>
            <a:off x="2350008" y="3209544"/>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07</a:t>
            </a:r>
            <a:endParaRPr lang="en-US" sz="2000" dirty="0"/>
          </a:p>
        </p:txBody>
      </p:sp>
      <p:sp>
        <p:nvSpPr>
          <p:cNvPr id="31" name="Text 29"/>
          <p:cNvSpPr/>
          <p:nvPr/>
        </p:nvSpPr>
        <p:spPr>
          <a:xfrm>
            <a:off x="365760" y="3255264"/>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Parent Feedback</a:t>
            </a:r>
            <a:endParaRPr lang="en-US" sz="1200" dirty="0"/>
          </a:p>
        </p:txBody>
      </p:sp>
      <p:sp>
        <p:nvSpPr>
          <p:cNvPr id="32" name="Text 30"/>
          <p:cNvSpPr/>
          <p:nvPr/>
        </p:nvSpPr>
        <p:spPr>
          <a:xfrm>
            <a:off x="365760" y="3566160"/>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View all submitted feedback, send replies, mark as resolved. Track status: pending/replied.</a:t>
            </a:r>
            <a:endParaRPr lang="en-US" sz="900" dirty="0"/>
          </a:p>
        </p:txBody>
      </p:sp>
      <p:sp>
        <p:nvSpPr>
          <p:cNvPr id="33" name="Shape 31"/>
          <p:cNvSpPr/>
          <p:nvPr/>
        </p:nvSpPr>
        <p:spPr>
          <a:xfrm>
            <a:off x="3095244" y="3163824"/>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4" name="Text 32"/>
          <p:cNvSpPr/>
          <p:nvPr/>
        </p:nvSpPr>
        <p:spPr>
          <a:xfrm>
            <a:off x="5244084" y="3209544"/>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08</a:t>
            </a:r>
            <a:endParaRPr lang="en-US" sz="2000" dirty="0"/>
          </a:p>
        </p:txBody>
      </p:sp>
      <p:sp>
        <p:nvSpPr>
          <p:cNvPr id="35" name="Text 33"/>
          <p:cNvSpPr/>
          <p:nvPr/>
        </p:nvSpPr>
        <p:spPr>
          <a:xfrm>
            <a:off x="3259836" y="3255264"/>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Analytics</a:t>
            </a:r>
            <a:endParaRPr lang="en-US" sz="1200" dirty="0"/>
          </a:p>
        </p:txBody>
      </p:sp>
      <p:sp>
        <p:nvSpPr>
          <p:cNvPr id="36" name="Text 34"/>
          <p:cNvSpPr/>
          <p:nvPr/>
        </p:nvSpPr>
        <p:spPr>
          <a:xfrm>
            <a:off x="3259836" y="3566160"/>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Chart.js powered visualizations: daily bar charts, weekly comparison, monthly trends.</a:t>
            </a:r>
            <a:endParaRPr lang="en-US" sz="900" dirty="0"/>
          </a:p>
        </p:txBody>
      </p:sp>
      <p:sp>
        <p:nvSpPr>
          <p:cNvPr id="37" name="Shape 35"/>
          <p:cNvSpPr/>
          <p:nvPr/>
        </p:nvSpPr>
        <p:spPr>
          <a:xfrm>
            <a:off x="5989320" y="3163824"/>
            <a:ext cx="2788920" cy="1115568"/>
          </a:xfrm>
          <a:prstGeom prst="roundRect">
            <a:avLst>
              <a:gd name="adj" fmla="val 14754"/>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8" name="Text 36"/>
          <p:cNvSpPr/>
          <p:nvPr/>
        </p:nvSpPr>
        <p:spPr>
          <a:xfrm>
            <a:off x="8138160" y="3209544"/>
            <a:ext cx="594360" cy="411480"/>
          </a:xfrm>
          <a:prstGeom prst="rect">
            <a:avLst/>
          </a:prstGeom>
          <a:noFill/>
          <a:ln/>
        </p:spPr>
        <p:txBody>
          <a:bodyPr wrap="square" rtlCol="0" anchor="t"/>
          <a:lstStyle/>
          <a:p>
            <a:pPr marL="0" indent="0" algn="r">
              <a:buNone/>
            </a:pPr>
            <a:r>
              <a:rPr lang="en-US" sz="2000" dirty="0">
                <a:solidFill>
                  <a:srgbClr val="C9A227">
                    <a:alpha val="40000"/>
                  </a:srgbClr>
                </a:solidFill>
                <a:latin typeface="Georgia" pitchFamily="34" charset="0"/>
                <a:ea typeface="Georgia" pitchFamily="34" charset="-122"/>
                <a:cs typeface="Georgia" pitchFamily="34" charset="-120"/>
              </a:rPr>
              <a:t>09</a:t>
            </a:r>
            <a:endParaRPr lang="en-US" sz="2000" dirty="0"/>
          </a:p>
        </p:txBody>
      </p:sp>
      <p:sp>
        <p:nvSpPr>
          <p:cNvPr id="39" name="Text 37"/>
          <p:cNvSpPr/>
          <p:nvPr/>
        </p:nvSpPr>
        <p:spPr>
          <a:xfrm>
            <a:off x="6153912" y="3255264"/>
            <a:ext cx="2560320" cy="329184"/>
          </a:xfrm>
          <a:prstGeom prst="rect">
            <a:avLst/>
          </a:prstGeom>
          <a:noFill/>
          <a:ln/>
        </p:spPr>
        <p:txBody>
          <a:bodyPr wrap="square" rtlCol="0" anchor="ctr"/>
          <a:lstStyle/>
          <a:p>
            <a:pPr marL="0" indent="0">
              <a:buNone/>
            </a:pPr>
            <a:r>
              <a:rPr lang="en-US" sz="1200" b="1" dirty="0">
                <a:solidFill>
                  <a:srgbClr val="F8F9FA"/>
                </a:solidFill>
                <a:latin typeface="Georgia" pitchFamily="34" charset="0"/>
                <a:ea typeface="Georgia" pitchFamily="34" charset="-122"/>
                <a:cs typeface="Georgia" pitchFamily="34" charset="-120"/>
              </a:rPr>
              <a:t>🔐  Secure Login</a:t>
            </a:r>
            <a:endParaRPr lang="en-US" sz="1200" dirty="0"/>
          </a:p>
        </p:txBody>
      </p:sp>
      <p:sp>
        <p:nvSpPr>
          <p:cNvPr id="40" name="Text 38"/>
          <p:cNvSpPr/>
          <p:nvPr/>
        </p:nvSpPr>
        <p:spPr>
          <a:xfrm>
            <a:off x="6153912" y="3566160"/>
            <a:ext cx="2560320" cy="640080"/>
          </a:xfrm>
          <a:prstGeom prst="rect">
            <a:avLst/>
          </a:prstGeom>
          <a:noFill/>
          <a:ln/>
        </p:spPr>
        <p:txBody>
          <a:bodyPr wrap="square" rtlCol="0" anchor="t"/>
          <a:lstStyle/>
          <a:p>
            <a:pPr marL="0" indent="0">
              <a:buNone/>
            </a:pPr>
            <a:r>
              <a:rPr lang="en-US" sz="900" dirty="0">
                <a:solidFill>
                  <a:srgbClr val="A0AEC0"/>
                </a:solidFill>
                <a:latin typeface="Calibri" pitchFamily="34" charset="0"/>
                <a:ea typeface="Calibri" pitchFamily="34" charset="-122"/>
                <a:cs typeface="Calibri" pitchFamily="34" charset="-120"/>
              </a:rPr>
              <a:t>Teacher-specific authentication with role-based access control for all teacher features.</a:t>
            </a:r>
            <a:endParaRPr lang="en-US" sz="900" dirty="0"/>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 Attendance System</a:t>
            </a:r>
            <a:endParaRPr lang="en-US" sz="2400" dirty="0"/>
          </a:p>
        </p:txBody>
      </p:sp>
      <p:sp>
        <p:nvSpPr>
          <p:cNvPr id="5" name="Shape 3"/>
          <p:cNvSpPr/>
          <p:nvPr/>
        </p:nvSpPr>
        <p:spPr>
          <a:xfrm>
            <a:off x="201168" y="749808"/>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365760" y="859536"/>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Daily Attendance</a:t>
            </a:r>
            <a:endParaRPr lang="en-US" sz="1250" dirty="0"/>
          </a:p>
        </p:txBody>
      </p:sp>
      <p:sp>
        <p:nvSpPr>
          <p:cNvPr id="7" name="Text 5"/>
          <p:cNvSpPr/>
          <p:nvPr/>
        </p:nvSpPr>
        <p:spPr>
          <a:xfrm>
            <a:off x="365760" y="1252728"/>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Mark Present, Absent, or Late for each student</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Quick buttons: Mark All Present/Absent/Late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Real-time save to Firebase Firestore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Daily summary with pie/bar chart</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Absent student notification center</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View past attendance by date</a:t>
            </a:r>
            <a:endParaRPr lang="en-US" sz="950" dirty="0"/>
          </a:p>
        </p:txBody>
      </p:sp>
      <p:sp>
        <p:nvSpPr>
          <p:cNvPr id="8" name="Shape 6"/>
          <p:cNvSpPr/>
          <p:nvPr/>
        </p:nvSpPr>
        <p:spPr>
          <a:xfrm>
            <a:off x="4690872" y="749808"/>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9" name="Text 7"/>
          <p:cNvSpPr/>
          <p:nvPr/>
        </p:nvSpPr>
        <p:spPr>
          <a:xfrm>
            <a:off x="4855464" y="859536"/>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Analytics &amp; Reports</a:t>
            </a:r>
            <a:endParaRPr lang="en-US" sz="1250" dirty="0"/>
          </a:p>
        </p:txBody>
      </p:sp>
      <p:sp>
        <p:nvSpPr>
          <p:cNvPr id="10" name="Text 8"/>
          <p:cNvSpPr/>
          <p:nvPr/>
        </p:nvSpPr>
        <p:spPr>
          <a:xfrm>
            <a:off x="4855464" y="1252728"/>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Daily attendance chart (Present/Absent/Late)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Weekly comparison (last 7 days)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Monthly trends with Nepali date tooltips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Yearly summary by Nepali months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Export to Excel (XLSX format)</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Percentage calculations for each category</a:t>
            </a:r>
            <a:endParaRPr lang="en-US" sz="950" dirty="0"/>
          </a:p>
        </p:txBody>
      </p:sp>
      <p:sp>
        <p:nvSpPr>
          <p:cNvPr id="11" name="Shape 9"/>
          <p:cNvSpPr/>
          <p:nvPr/>
        </p:nvSpPr>
        <p:spPr>
          <a:xfrm>
            <a:off x="201168" y="2834640"/>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2" name="Text 10"/>
          <p:cNvSpPr/>
          <p:nvPr/>
        </p:nvSpPr>
        <p:spPr>
          <a:xfrm>
            <a:off x="365760" y="2944368"/>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Nepali Date Support</a:t>
            </a:r>
            <a:endParaRPr lang="en-US" sz="1250" dirty="0"/>
          </a:p>
        </p:txBody>
      </p:sp>
      <p:sp>
        <p:nvSpPr>
          <p:cNvPr id="13" name="Text 11"/>
          <p:cNvSpPr/>
          <p:nvPr/>
        </p:nvSpPr>
        <p:spPr>
          <a:xfrm>
            <a:off x="365760" y="3337560"/>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Automatic Nepali (B.S.) date conversion</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12 Nepali months: Baisakh to Chaitra</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B.S. date displayed on attendance form</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Chart tooltips show Nepali dates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Yearly analytics in Nepali calendar</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Gregorian to Bikram Sambat conversion</a:t>
            </a:r>
            <a:endParaRPr lang="en-US" sz="950" dirty="0"/>
          </a:p>
        </p:txBody>
      </p:sp>
      <p:sp>
        <p:nvSpPr>
          <p:cNvPr id="14" name="Shape 12"/>
          <p:cNvSpPr/>
          <p:nvPr/>
        </p:nvSpPr>
        <p:spPr>
          <a:xfrm>
            <a:off x="4690872" y="2834640"/>
            <a:ext cx="4251960" cy="1965960"/>
          </a:xfrm>
          <a:prstGeom prst="roundRect">
            <a:avLst>
              <a:gd name="adj" fmla="val 837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5" name="Text 13"/>
          <p:cNvSpPr/>
          <p:nvPr/>
        </p:nvSpPr>
        <p:spPr>
          <a:xfrm>
            <a:off x="4855464" y="2944368"/>
            <a:ext cx="4023360" cy="347472"/>
          </a:xfrm>
          <a:prstGeom prst="rect">
            <a:avLst/>
          </a:prstGeom>
          <a:noFill/>
          <a:ln/>
        </p:spPr>
        <p:txBody>
          <a:bodyPr wrap="square" rtlCol="0" anchor="ctr"/>
          <a:lstStyle/>
          <a:p>
            <a:pPr marL="0" indent="0">
              <a:buNone/>
            </a:pPr>
            <a:r>
              <a:rPr lang="en-US" sz="1250" b="1" dirty="0">
                <a:solidFill>
                  <a:srgbClr val="C9A227"/>
                </a:solidFill>
                <a:latin typeface="Georgia" pitchFamily="34" charset="0"/>
                <a:ea typeface="Georgia" pitchFamily="34" charset="-122"/>
                <a:cs typeface="Georgia" pitchFamily="34" charset="-120"/>
              </a:rPr>
              <a:t>☁️ Cloud Features</a:t>
            </a:r>
            <a:endParaRPr lang="en-US" sz="1250" dirty="0"/>
          </a:p>
        </p:txBody>
      </p:sp>
      <p:sp>
        <p:nvSpPr>
          <p:cNvPr id="16" name="Text 14"/>
          <p:cNvSpPr/>
          <p:nvPr/>
        </p:nvSpPr>
        <p:spPr>
          <a:xfrm>
            <a:off x="4855464" y="3337560"/>
            <a:ext cx="4023360" cy="1371600"/>
          </a:xfrm>
          <a:prstGeom prst="rect">
            <a:avLst/>
          </a:prstGeom>
          <a:noFill/>
          <a:ln/>
        </p:spPr>
        <p:txBody>
          <a:bodyPr wrap="square" rtlCol="0" anchor="t"/>
          <a:lstStyle/>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Automatic sync to Firebase</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Real-time updates across all devices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Data backup and preservation</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Offline-capable with sync on reconnect</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Student email integration for notifications</a:t>
            </a:r>
            <a:endParaRPr lang="en-US" sz="950" dirty="0"/>
          </a:p>
          <a:p>
            <a:pPr marL="342900" indent="-342900">
              <a:buSzPct val="100000"/>
              <a:buChar char="•"/>
            </a:pPr>
            <a:r>
              <a:rPr lang="en-US" sz="950" dirty="0">
                <a:solidFill>
                  <a:srgbClr val="A0AEC0"/>
                </a:solidFill>
                <a:latin typeface="Calibri" pitchFamily="34" charset="0"/>
                <a:ea typeface="Calibri" pitchFamily="34" charset="-122"/>
                <a:cs typeface="Calibri" pitchFamily="34" charset="-120"/>
              </a:rPr>
              <a:t>Secure data with Firebase security rules</a:t>
            </a:r>
            <a:endParaRPr lang="en-US" sz="950" dirty="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Technology Stack</a:t>
            </a:r>
            <a:endParaRPr lang="en-US" sz="2400" dirty="0"/>
          </a:p>
        </p:txBody>
      </p:sp>
      <p:sp>
        <p:nvSpPr>
          <p:cNvPr id="5" name="Shape 3"/>
          <p:cNvSpPr/>
          <p:nvPr/>
        </p:nvSpPr>
        <p:spPr>
          <a:xfrm>
            <a:off x="201168"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201168" y="886968"/>
            <a:ext cx="1371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265176" y="1444752"/>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HTML5</a:t>
            </a:r>
            <a:endParaRPr lang="en-US" sz="1100" dirty="0"/>
          </a:p>
        </p:txBody>
      </p:sp>
      <p:sp>
        <p:nvSpPr>
          <p:cNvPr id="8" name="Shape 6"/>
          <p:cNvSpPr/>
          <p:nvPr/>
        </p:nvSpPr>
        <p:spPr>
          <a:xfrm>
            <a:off x="1664208"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9" name="Text 7"/>
          <p:cNvSpPr/>
          <p:nvPr/>
        </p:nvSpPr>
        <p:spPr>
          <a:xfrm>
            <a:off x="1664208" y="886968"/>
            <a:ext cx="1371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1728216" y="1444752"/>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CSS3</a:t>
            </a:r>
            <a:endParaRPr lang="en-US" sz="1100" dirty="0"/>
          </a:p>
        </p:txBody>
      </p:sp>
      <p:sp>
        <p:nvSpPr>
          <p:cNvPr id="11" name="Shape 9"/>
          <p:cNvSpPr/>
          <p:nvPr/>
        </p:nvSpPr>
        <p:spPr>
          <a:xfrm>
            <a:off x="3127248"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2" name="Text 10"/>
          <p:cNvSpPr/>
          <p:nvPr/>
        </p:nvSpPr>
        <p:spPr>
          <a:xfrm>
            <a:off x="3127248" y="886968"/>
            <a:ext cx="1371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3191256" y="1444752"/>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JavaScript</a:t>
            </a:r>
            <a:endParaRPr lang="en-US" sz="1100" dirty="0"/>
          </a:p>
        </p:txBody>
      </p:sp>
      <p:sp>
        <p:nvSpPr>
          <p:cNvPr id="14" name="Shape 12"/>
          <p:cNvSpPr/>
          <p:nvPr/>
        </p:nvSpPr>
        <p:spPr>
          <a:xfrm>
            <a:off x="4590288"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5" name="Text 13"/>
          <p:cNvSpPr/>
          <p:nvPr/>
        </p:nvSpPr>
        <p:spPr>
          <a:xfrm>
            <a:off x="4590288" y="886968"/>
            <a:ext cx="1371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4654296" y="1444752"/>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Firebase</a:t>
            </a:r>
            <a:endParaRPr lang="en-US" sz="1100" dirty="0"/>
          </a:p>
        </p:txBody>
      </p:sp>
      <p:sp>
        <p:nvSpPr>
          <p:cNvPr id="17" name="Shape 15"/>
          <p:cNvSpPr/>
          <p:nvPr/>
        </p:nvSpPr>
        <p:spPr>
          <a:xfrm>
            <a:off x="6053328"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8" name="Text 16"/>
          <p:cNvSpPr/>
          <p:nvPr/>
        </p:nvSpPr>
        <p:spPr>
          <a:xfrm>
            <a:off x="6053328" y="886968"/>
            <a:ext cx="1371600" cy="5029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6117336" y="1444752"/>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Gemini AI</a:t>
            </a:r>
            <a:endParaRPr lang="en-US" sz="1100" dirty="0"/>
          </a:p>
        </p:txBody>
      </p:sp>
      <p:sp>
        <p:nvSpPr>
          <p:cNvPr id="20" name="Shape 18"/>
          <p:cNvSpPr/>
          <p:nvPr/>
        </p:nvSpPr>
        <p:spPr>
          <a:xfrm>
            <a:off x="7545827" y="777240"/>
            <a:ext cx="1371600" cy="1097280"/>
          </a:xfrm>
          <a:prstGeom prst="roundRect">
            <a:avLst>
              <a:gd name="adj" fmla="val 15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1" name="Text 19"/>
          <p:cNvSpPr/>
          <p:nvPr/>
        </p:nvSpPr>
        <p:spPr>
          <a:xfrm>
            <a:off x="7516368" y="886968"/>
            <a:ext cx="1371600" cy="502920"/>
          </a:xfrm>
          <a:prstGeom prst="rect">
            <a:avLst/>
          </a:prstGeom>
          <a:noFill/>
          <a:ln/>
        </p:spPr>
        <p:txBody>
          <a:bodyPr wrap="square" lIns="91440" tIns="45720" rIns="91440" bIns="45720" rtlCol="0" anchor="ctr"/>
          <a:lstStyle/>
          <a:p>
            <a:pPr marL="0" indent="0" algn="ctr">
              <a:buNone/>
            </a:pPr>
            <a:endParaRPr lang="en-US" sz="2800" dirty="0"/>
          </a:p>
        </p:txBody>
      </p:sp>
      <p:sp>
        <p:nvSpPr>
          <p:cNvPr id="22" name="Text 20"/>
          <p:cNvSpPr/>
          <p:nvPr/>
        </p:nvSpPr>
        <p:spPr>
          <a:xfrm>
            <a:off x="7515567" y="1214974"/>
            <a:ext cx="1307592" cy="347472"/>
          </a:xfrm>
          <a:prstGeom prst="rect">
            <a:avLst/>
          </a:prstGeom>
          <a:noFill/>
          <a:ln/>
        </p:spPr>
        <p:txBody>
          <a:bodyPr wrap="square" rtlCol="0" anchor="ctr"/>
          <a:lstStyle/>
          <a:p>
            <a:pPr marL="0" indent="0" algn="ctr">
              <a:buNone/>
            </a:pPr>
            <a:r>
              <a:rPr lang="en-US" sz="1100" b="1" dirty="0">
                <a:solidFill>
                  <a:srgbClr val="F8F9FA"/>
                </a:solidFill>
                <a:latin typeface="Calibri" pitchFamily="34" charset="0"/>
                <a:ea typeface="Calibri" pitchFamily="34" charset="-122"/>
                <a:cs typeface="Calibri" pitchFamily="34" charset="-120"/>
              </a:rPr>
              <a:t>Python</a:t>
            </a:r>
            <a:endParaRPr lang="en-US" sz="1100" dirty="0"/>
          </a:p>
        </p:txBody>
      </p:sp>
      <p:sp>
        <p:nvSpPr>
          <p:cNvPr id="23" name="Shape 21"/>
          <p:cNvSpPr/>
          <p:nvPr/>
        </p:nvSpPr>
        <p:spPr>
          <a:xfrm>
            <a:off x="201168" y="2103120"/>
            <a:ext cx="4389120" cy="2697480"/>
          </a:xfrm>
          <a:prstGeom prst="roundRect">
            <a:avLst>
              <a:gd name="adj" fmla="val 610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4" name="Text 22"/>
          <p:cNvSpPr/>
          <p:nvPr/>
        </p:nvSpPr>
        <p:spPr>
          <a:xfrm>
            <a:off x="365760" y="2240280"/>
            <a:ext cx="4160520" cy="347472"/>
          </a:xfrm>
          <a:prstGeom prst="rect">
            <a:avLst/>
          </a:prstGeom>
          <a:noFill/>
          <a:ln/>
        </p:spPr>
        <p:txBody>
          <a:bodyPr wrap="square" rtlCol="0" anchor="ctr"/>
          <a:lstStyle/>
          <a:p>
            <a:pPr marL="0" indent="0">
              <a:buNone/>
            </a:pPr>
            <a:r>
              <a:rPr lang="en-US" sz="1300" b="1" dirty="0">
                <a:solidFill>
                  <a:srgbClr val="C9A227"/>
                </a:solidFill>
                <a:latin typeface="Georgia" pitchFamily="34" charset="0"/>
                <a:ea typeface="Georgia" pitchFamily="34" charset="-122"/>
                <a:cs typeface="Georgia" pitchFamily="34" charset="-120"/>
              </a:rPr>
              <a:t>💻  Frontend Development</a:t>
            </a:r>
            <a:endParaRPr lang="en-US" sz="1300" dirty="0"/>
          </a:p>
        </p:txBody>
      </p:sp>
      <p:sp>
        <p:nvSpPr>
          <p:cNvPr id="25" name="Text 23"/>
          <p:cNvSpPr/>
          <p:nvPr/>
        </p:nvSpPr>
        <p:spPr>
          <a:xfrm>
            <a:off x="365760" y="2651760"/>
            <a:ext cx="4160520" cy="2011680"/>
          </a:xfrm>
          <a:prstGeom prst="rect">
            <a:avLst/>
          </a:prstGeom>
          <a:noFill/>
          <a:ln/>
        </p:spPr>
        <p:txBody>
          <a:bodyPr wrap="square" rtlCol="0" anchor="t"/>
          <a:lstStyle/>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Modern responsive UI/UX with CSS Grid &amp; Flexbox</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Interactive interfaces with smooth animations</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Cross-browser compatibility (Chrome, Firefox, Edge)</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Mobile-first responsive design approach</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Glassmorphism effects and gradient backgrounds</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Real-time data binding with Firebase listeners</a:t>
            </a:r>
            <a:endParaRPr lang="en-US" sz="1000" dirty="0"/>
          </a:p>
        </p:txBody>
      </p:sp>
      <p:sp>
        <p:nvSpPr>
          <p:cNvPr id="26" name="Shape 24"/>
          <p:cNvSpPr/>
          <p:nvPr/>
        </p:nvSpPr>
        <p:spPr>
          <a:xfrm>
            <a:off x="4773168" y="2103120"/>
            <a:ext cx="4389120" cy="2697480"/>
          </a:xfrm>
          <a:prstGeom prst="roundRect">
            <a:avLst>
              <a:gd name="adj" fmla="val 6102"/>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7" name="Text 25"/>
          <p:cNvSpPr/>
          <p:nvPr/>
        </p:nvSpPr>
        <p:spPr>
          <a:xfrm>
            <a:off x="4937760" y="2240280"/>
            <a:ext cx="4160520" cy="347472"/>
          </a:xfrm>
          <a:prstGeom prst="rect">
            <a:avLst/>
          </a:prstGeom>
          <a:noFill/>
          <a:ln/>
        </p:spPr>
        <p:txBody>
          <a:bodyPr wrap="square" rtlCol="0" anchor="ctr"/>
          <a:lstStyle/>
          <a:p>
            <a:pPr marL="0" indent="0">
              <a:buNone/>
            </a:pPr>
            <a:r>
              <a:rPr lang="en-US" sz="1300" b="1" dirty="0">
                <a:solidFill>
                  <a:srgbClr val="C9A227"/>
                </a:solidFill>
                <a:latin typeface="Georgia" pitchFamily="34" charset="0"/>
                <a:ea typeface="Georgia" pitchFamily="34" charset="-122"/>
                <a:cs typeface="Georgia" pitchFamily="34" charset="-120"/>
              </a:rPr>
              <a:t>⚙️  Backend &amp; Infrastructure</a:t>
            </a:r>
            <a:endParaRPr lang="en-US" sz="1300" dirty="0"/>
          </a:p>
        </p:txBody>
      </p:sp>
      <p:sp>
        <p:nvSpPr>
          <p:cNvPr id="28" name="Text 26"/>
          <p:cNvSpPr/>
          <p:nvPr/>
        </p:nvSpPr>
        <p:spPr>
          <a:xfrm>
            <a:off x="4937760" y="2651760"/>
            <a:ext cx="4160520" cy="2011680"/>
          </a:xfrm>
          <a:prstGeom prst="rect">
            <a:avLst/>
          </a:prstGeom>
          <a:noFill/>
          <a:ln/>
        </p:spPr>
        <p:txBody>
          <a:bodyPr wrap="square" rtlCol="0" anchor="t"/>
          <a:lstStyle/>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Firebase Firestore NoSQL cloud database</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Real-time data synchronization across all clients</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Python automation bot with Gemini 2.5 AI</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Cloud-based data storage and backup</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Session management with localStorage</a:t>
            </a:r>
            <a:endParaRPr lang="en-US" sz="1000" dirty="0"/>
          </a:p>
          <a:p>
            <a:pPr marL="342900" indent="-342900">
              <a:buSzPct val="100000"/>
              <a:buChar char="•"/>
            </a:pPr>
            <a:r>
              <a:rPr lang="en-US" sz="1000" dirty="0">
                <a:solidFill>
                  <a:srgbClr val="A0AEC0"/>
                </a:solidFill>
                <a:latin typeface="Calibri" pitchFamily="34" charset="0"/>
                <a:ea typeface="Calibri" pitchFamily="34" charset="-122"/>
                <a:cs typeface="Calibri" pitchFamily="34" charset="-120"/>
              </a:rPr>
              <a:t>Chart.js for analytics visualization</a:t>
            </a:r>
            <a:endParaRPr lang="en-US" sz="1000"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Interface Preview</a:t>
            </a:r>
            <a:endParaRPr lang="en-US" sz="2400" dirty="0"/>
          </a:p>
        </p:txBody>
      </p:sp>
      <p:sp>
        <p:nvSpPr>
          <p:cNvPr id="5" name="Shape 3"/>
          <p:cNvSpPr/>
          <p:nvPr/>
        </p:nvSpPr>
        <p:spPr>
          <a:xfrm>
            <a:off x="201168" y="749808"/>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Text 4"/>
          <p:cNvSpPr/>
          <p:nvPr/>
        </p:nvSpPr>
        <p:spPr>
          <a:xfrm>
            <a:off x="265176" y="841248"/>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Student Login</a:t>
            </a:r>
            <a:endParaRPr lang="en-US" sz="1000" dirty="0"/>
          </a:p>
        </p:txBody>
      </p:sp>
      <p:sp>
        <p:nvSpPr>
          <p:cNvPr id="7" name="Shape 5"/>
          <p:cNvSpPr/>
          <p:nvPr/>
        </p:nvSpPr>
        <p:spPr>
          <a:xfrm>
            <a:off x="338328" y="1207008"/>
            <a:ext cx="1810512" cy="1234440"/>
          </a:xfrm>
          <a:prstGeom prst="roundRect">
            <a:avLst>
              <a:gd name="adj" fmla="val 8889"/>
            </a:avLst>
          </a:prstGeom>
          <a:solidFill>
            <a:srgbClr val="0F1C2E"/>
          </a:solidFill>
          <a:ln w="12700">
            <a:solidFill>
              <a:srgbClr val="1E3A5F"/>
            </a:solidFill>
            <a:prstDash val="solid"/>
          </a:ln>
        </p:spPr>
      </p:sp>
      <p:sp>
        <p:nvSpPr>
          <p:cNvPr id="8" name="Text 6"/>
          <p:cNvSpPr/>
          <p:nvPr/>
        </p:nvSpPr>
        <p:spPr>
          <a:xfrm>
            <a:off x="338328" y="1207008"/>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9" name="Shape 7"/>
          <p:cNvSpPr/>
          <p:nvPr/>
        </p:nvSpPr>
        <p:spPr>
          <a:xfrm>
            <a:off x="2386584" y="749808"/>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0" name="Text 8"/>
          <p:cNvSpPr/>
          <p:nvPr/>
        </p:nvSpPr>
        <p:spPr>
          <a:xfrm>
            <a:off x="2450592" y="841248"/>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Student Dashboard</a:t>
            </a:r>
            <a:endParaRPr lang="en-US" sz="1000" dirty="0"/>
          </a:p>
        </p:txBody>
      </p:sp>
      <p:sp>
        <p:nvSpPr>
          <p:cNvPr id="11" name="Shape 9"/>
          <p:cNvSpPr/>
          <p:nvPr/>
        </p:nvSpPr>
        <p:spPr>
          <a:xfrm>
            <a:off x="2523744" y="1207008"/>
            <a:ext cx="1810512" cy="1234440"/>
          </a:xfrm>
          <a:prstGeom prst="roundRect">
            <a:avLst>
              <a:gd name="adj" fmla="val 8889"/>
            </a:avLst>
          </a:prstGeom>
          <a:solidFill>
            <a:srgbClr val="0F1C2E"/>
          </a:solidFill>
          <a:ln w="12700">
            <a:solidFill>
              <a:srgbClr val="1E3A5F"/>
            </a:solidFill>
            <a:prstDash val="solid"/>
          </a:ln>
        </p:spPr>
      </p:sp>
      <p:sp>
        <p:nvSpPr>
          <p:cNvPr id="12" name="Text 10"/>
          <p:cNvSpPr/>
          <p:nvPr/>
        </p:nvSpPr>
        <p:spPr>
          <a:xfrm>
            <a:off x="2523744" y="1207008"/>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13" name="Shape 11"/>
          <p:cNvSpPr/>
          <p:nvPr/>
        </p:nvSpPr>
        <p:spPr>
          <a:xfrm>
            <a:off x="4572000" y="749808"/>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4" name="Text 12"/>
          <p:cNvSpPr/>
          <p:nvPr/>
        </p:nvSpPr>
        <p:spPr>
          <a:xfrm>
            <a:off x="4636008" y="841248"/>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Teacher Dashboard</a:t>
            </a:r>
            <a:endParaRPr lang="en-US" sz="1000" dirty="0"/>
          </a:p>
        </p:txBody>
      </p:sp>
      <p:sp>
        <p:nvSpPr>
          <p:cNvPr id="15" name="Shape 13"/>
          <p:cNvSpPr/>
          <p:nvPr/>
        </p:nvSpPr>
        <p:spPr>
          <a:xfrm>
            <a:off x="4709160" y="1207008"/>
            <a:ext cx="1810512" cy="1234440"/>
          </a:xfrm>
          <a:prstGeom prst="roundRect">
            <a:avLst>
              <a:gd name="adj" fmla="val 8889"/>
            </a:avLst>
          </a:prstGeom>
          <a:solidFill>
            <a:srgbClr val="0F1C2E"/>
          </a:solidFill>
          <a:ln w="12700">
            <a:solidFill>
              <a:srgbClr val="1E3A5F"/>
            </a:solidFill>
            <a:prstDash val="solid"/>
          </a:ln>
        </p:spPr>
      </p:sp>
      <p:sp>
        <p:nvSpPr>
          <p:cNvPr id="16" name="Text 14"/>
          <p:cNvSpPr/>
          <p:nvPr/>
        </p:nvSpPr>
        <p:spPr>
          <a:xfrm>
            <a:off x="4709160" y="1207008"/>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17" name="Shape 15"/>
          <p:cNvSpPr/>
          <p:nvPr/>
        </p:nvSpPr>
        <p:spPr>
          <a:xfrm>
            <a:off x="6757416" y="749808"/>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18" name="Text 16"/>
          <p:cNvSpPr/>
          <p:nvPr/>
        </p:nvSpPr>
        <p:spPr>
          <a:xfrm>
            <a:off x="6821424" y="841248"/>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Attendance System</a:t>
            </a:r>
            <a:endParaRPr lang="en-US" sz="1000" dirty="0"/>
          </a:p>
        </p:txBody>
      </p:sp>
      <p:sp>
        <p:nvSpPr>
          <p:cNvPr id="19" name="Shape 17"/>
          <p:cNvSpPr/>
          <p:nvPr/>
        </p:nvSpPr>
        <p:spPr>
          <a:xfrm>
            <a:off x="6894576" y="1207008"/>
            <a:ext cx="1810512" cy="1234440"/>
          </a:xfrm>
          <a:prstGeom prst="roundRect">
            <a:avLst>
              <a:gd name="adj" fmla="val 8889"/>
            </a:avLst>
          </a:prstGeom>
          <a:solidFill>
            <a:srgbClr val="0F1C2E"/>
          </a:solidFill>
          <a:ln w="12700">
            <a:solidFill>
              <a:srgbClr val="1E3A5F"/>
            </a:solidFill>
            <a:prstDash val="solid"/>
          </a:ln>
        </p:spPr>
      </p:sp>
      <p:sp>
        <p:nvSpPr>
          <p:cNvPr id="20" name="Text 18"/>
          <p:cNvSpPr/>
          <p:nvPr/>
        </p:nvSpPr>
        <p:spPr>
          <a:xfrm>
            <a:off x="6894576" y="1207008"/>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21" name="Shape 19"/>
          <p:cNvSpPr/>
          <p:nvPr/>
        </p:nvSpPr>
        <p:spPr>
          <a:xfrm>
            <a:off x="201168" y="2734056"/>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2" name="Text 20"/>
          <p:cNvSpPr/>
          <p:nvPr/>
        </p:nvSpPr>
        <p:spPr>
          <a:xfrm>
            <a:off x="265176" y="2825496"/>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Homework Manager</a:t>
            </a:r>
            <a:endParaRPr lang="en-US" sz="1000" dirty="0"/>
          </a:p>
        </p:txBody>
      </p:sp>
      <p:sp>
        <p:nvSpPr>
          <p:cNvPr id="23" name="Shape 21"/>
          <p:cNvSpPr/>
          <p:nvPr/>
        </p:nvSpPr>
        <p:spPr>
          <a:xfrm>
            <a:off x="338328" y="3191256"/>
            <a:ext cx="1810512" cy="1234440"/>
          </a:xfrm>
          <a:prstGeom prst="roundRect">
            <a:avLst>
              <a:gd name="adj" fmla="val 8889"/>
            </a:avLst>
          </a:prstGeom>
          <a:solidFill>
            <a:srgbClr val="0F1C2E"/>
          </a:solidFill>
          <a:ln w="12700">
            <a:solidFill>
              <a:srgbClr val="1E3A5F"/>
            </a:solidFill>
            <a:prstDash val="solid"/>
          </a:ln>
        </p:spPr>
      </p:sp>
      <p:sp>
        <p:nvSpPr>
          <p:cNvPr id="24" name="Text 22"/>
          <p:cNvSpPr/>
          <p:nvPr/>
        </p:nvSpPr>
        <p:spPr>
          <a:xfrm>
            <a:off x="338328" y="3191256"/>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25" name="Shape 23"/>
          <p:cNvSpPr/>
          <p:nvPr/>
        </p:nvSpPr>
        <p:spPr>
          <a:xfrm>
            <a:off x="2386584" y="2734056"/>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26" name="Text 24"/>
          <p:cNvSpPr/>
          <p:nvPr/>
        </p:nvSpPr>
        <p:spPr>
          <a:xfrm>
            <a:off x="2450592" y="2825496"/>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Timetable</a:t>
            </a:r>
            <a:endParaRPr lang="en-US" sz="1000" dirty="0"/>
          </a:p>
        </p:txBody>
      </p:sp>
      <p:sp>
        <p:nvSpPr>
          <p:cNvPr id="27" name="Shape 25"/>
          <p:cNvSpPr/>
          <p:nvPr/>
        </p:nvSpPr>
        <p:spPr>
          <a:xfrm>
            <a:off x="2523744" y="3191256"/>
            <a:ext cx="1810512" cy="1234440"/>
          </a:xfrm>
          <a:prstGeom prst="roundRect">
            <a:avLst>
              <a:gd name="adj" fmla="val 8889"/>
            </a:avLst>
          </a:prstGeom>
          <a:solidFill>
            <a:srgbClr val="0F1C2E"/>
          </a:solidFill>
          <a:ln w="12700">
            <a:solidFill>
              <a:srgbClr val="1E3A5F"/>
            </a:solidFill>
            <a:prstDash val="solid"/>
          </a:ln>
        </p:spPr>
      </p:sp>
      <p:sp>
        <p:nvSpPr>
          <p:cNvPr id="28" name="Text 26"/>
          <p:cNvSpPr/>
          <p:nvPr/>
        </p:nvSpPr>
        <p:spPr>
          <a:xfrm>
            <a:off x="2523744" y="3191256"/>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29" name="Shape 27"/>
          <p:cNvSpPr/>
          <p:nvPr/>
        </p:nvSpPr>
        <p:spPr>
          <a:xfrm>
            <a:off x="4572000" y="2734056"/>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0" name="Text 28"/>
          <p:cNvSpPr/>
          <p:nvPr/>
        </p:nvSpPr>
        <p:spPr>
          <a:xfrm>
            <a:off x="4636008" y="2825496"/>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Notices</a:t>
            </a:r>
            <a:endParaRPr lang="en-US" sz="1000" dirty="0"/>
          </a:p>
        </p:txBody>
      </p:sp>
      <p:sp>
        <p:nvSpPr>
          <p:cNvPr id="31" name="Shape 29"/>
          <p:cNvSpPr/>
          <p:nvPr/>
        </p:nvSpPr>
        <p:spPr>
          <a:xfrm>
            <a:off x="4709160" y="3191256"/>
            <a:ext cx="1810512" cy="1234440"/>
          </a:xfrm>
          <a:prstGeom prst="roundRect">
            <a:avLst>
              <a:gd name="adj" fmla="val 8889"/>
            </a:avLst>
          </a:prstGeom>
          <a:solidFill>
            <a:srgbClr val="0F1C2E"/>
          </a:solidFill>
          <a:ln w="12700">
            <a:solidFill>
              <a:srgbClr val="1E3A5F"/>
            </a:solidFill>
            <a:prstDash val="solid"/>
          </a:ln>
        </p:spPr>
      </p:sp>
      <p:sp>
        <p:nvSpPr>
          <p:cNvPr id="32" name="Text 30"/>
          <p:cNvSpPr/>
          <p:nvPr/>
        </p:nvSpPr>
        <p:spPr>
          <a:xfrm>
            <a:off x="4709160" y="3191256"/>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33" name="Shape 31"/>
          <p:cNvSpPr/>
          <p:nvPr/>
        </p:nvSpPr>
        <p:spPr>
          <a:xfrm>
            <a:off x="6757416" y="2734056"/>
            <a:ext cx="2084832" cy="1874520"/>
          </a:xfrm>
          <a:prstGeom prst="roundRect">
            <a:avLst>
              <a:gd name="adj" fmla="val 878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34" name="Text 32"/>
          <p:cNvSpPr/>
          <p:nvPr/>
        </p:nvSpPr>
        <p:spPr>
          <a:xfrm>
            <a:off x="6821424" y="2825496"/>
            <a:ext cx="1956816" cy="320040"/>
          </a:xfrm>
          <a:prstGeom prst="rect">
            <a:avLst/>
          </a:prstGeom>
          <a:noFill/>
          <a:ln/>
        </p:spPr>
        <p:txBody>
          <a:bodyPr wrap="square" rtlCol="0" anchor="ctr"/>
          <a:lstStyle/>
          <a:p>
            <a:pPr marL="0" indent="0" algn="ctr">
              <a:buNone/>
            </a:pPr>
            <a:r>
              <a:rPr lang="en-US" sz="1000" b="1" dirty="0">
                <a:solidFill>
                  <a:srgbClr val="C9A227"/>
                </a:solidFill>
                <a:latin typeface="Georgia" pitchFamily="34" charset="0"/>
                <a:ea typeface="Georgia" pitchFamily="34" charset="-122"/>
                <a:cs typeface="Georgia" pitchFamily="34" charset="-120"/>
              </a:rPr>
              <a:t>Class Chat + AI</a:t>
            </a:r>
            <a:endParaRPr lang="en-US" sz="1000" dirty="0"/>
          </a:p>
        </p:txBody>
      </p:sp>
      <p:sp>
        <p:nvSpPr>
          <p:cNvPr id="35" name="Shape 33"/>
          <p:cNvSpPr/>
          <p:nvPr/>
        </p:nvSpPr>
        <p:spPr>
          <a:xfrm>
            <a:off x="6894576" y="3191256"/>
            <a:ext cx="1810512" cy="1234440"/>
          </a:xfrm>
          <a:prstGeom prst="roundRect">
            <a:avLst>
              <a:gd name="adj" fmla="val 8889"/>
            </a:avLst>
          </a:prstGeom>
          <a:solidFill>
            <a:srgbClr val="0F1C2E"/>
          </a:solidFill>
          <a:ln w="12700">
            <a:solidFill>
              <a:srgbClr val="1E3A5F"/>
            </a:solidFill>
            <a:prstDash val="solid"/>
          </a:ln>
        </p:spPr>
      </p:sp>
      <p:sp>
        <p:nvSpPr>
          <p:cNvPr id="36" name="Text 34"/>
          <p:cNvSpPr/>
          <p:nvPr/>
        </p:nvSpPr>
        <p:spPr>
          <a:xfrm>
            <a:off x="6894576" y="3191256"/>
            <a:ext cx="1810512" cy="12344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37" name="Text 35"/>
          <p:cNvSpPr/>
          <p:nvPr/>
        </p:nvSpPr>
        <p:spPr>
          <a:xfrm>
            <a:off x="457200" y="4818888"/>
            <a:ext cx="8229600" cy="274320"/>
          </a:xfrm>
          <a:prstGeom prst="rect">
            <a:avLst/>
          </a:prstGeom>
          <a:noFill/>
          <a:ln/>
        </p:spPr>
        <p:txBody>
          <a:bodyPr wrap="square" rtlCol="0" anchor="ctr"/>
          <a:lstStyle/>
          <a:p>
            <a:pPr marL="0" indent="0" algn="ctr">
              <a:buNone/>
            </a:pPr>
            <a:r>
              <a:rPr lang="en-US" sz="1000" dirty="0">
                <a:solidFill>
                  <a:srgbClr val="A0AEC0"/>
                </a:solidFill>
                <a:latin typeface="Calibri" pitchFamily="34" charset="0"/>
                <a:ea typeface="Calibri" pitchFamily="34" charset="-122"/>
                <a:cs typeface="Calibri" pitchFamily="34" charset="-120"/>
              </a:rPr>
              <a:t>Modern, intuitive interfaces with golden accent lines  •  Responsive design for all devices</a:t>
            </a:r>
            <a:endParaRPr lang="en-US" sz="1000"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p:spPr>
      </p:sp>
      <p:sp>
        <p:nvSpPr>
          <p:cNvPr id="3" name="Shape 1"/>
          <p:cNvSpPr/>
          <p:nvPr/>
        </p:nvSpPr>
        <p:spPr>
          <a:xfrm>
            <a:off x="3200400" y="566928"/>
            <a:ext cx="2743200" cy="73152"/>
          </a:xfrm>
          <a:prstGeom prst="roundRect">
            <a:avLst>
              <a:gd name="adj" fmla="val 50000"/>
            </a:avLst>
          </a:prstGeom>
          <a:solidFill>
            <a:srgbClr val="C9A227">
              <a:alpha val="70000"/>
            </a:srgbClr>
          </a:solidFill>
          <a:ln/>
        </p:spPr>
      </p:sp>
      <p:sp>
        <p:nvSpPr>
          <p:cNvPr id="4" name="Text 2"/>
          <p:cNvSpPr/>
          <p:nvPr/>
        </p:nvSpPr>
        <p:spPr>
          <a:xfrm>
            <a:off x="274320" y="45720"/>
            <a:ext cx="8595360" cy="548640"/>
          </a:xfrm>
          <a:prstGeom prst="rect">
            <a:avLst/>
          </a:prstGeom>
          <a:noFill/>
          <a:ln/>
        </p:spPr>
        <p:txBody>
          <a:bodyPr wrap="square"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 AI Bot System</a:t>
            </a:r>
            <a:endParaRPr lang="en-US" sz="2400" dirty="0"/>
          </a:p>
        </p:txBody>
      </p:sp>
      <p:sp>
        <p:nvSpPr>
          <p:cNvPr id="5" name="Shape 3"/>
          <p:cNvSpPr/>
          <p:nvPr/>
        </p:nvSpPr>
        <p:spPr>
          <a:xfrm>
            <a:off x="201168" y="749808"/>
            <a:ext cx="5303520" cy="4114800"/>
          </a:xfrm>
          <a:prstGeom prst="roundRect">
            <a:avLst>
              <a:gd name="adj" fmla="val 4000"/>
            </a:avLst>
          </a:prstGeom>
          <a:solidFill>
            <a:srgbClr val="111E30"/>
          </a:solidFill>
          <a:ln w="12700">
            <a:solidFill>
              <a:srgbClr val="1E3A5F"/>
            </a:solidFill>
            <a:prstDash val="solid"/>
          </a:ln>
          <a:effectLst>
            <a:outerShdw blurRad="177800" dist="38100" dir="8100000" algn="bl" rotWithShape="0">
              <a:srgbClr val="000000">
                <a:alpha val="22000"/>
              </a:srgbClr>
            </a:outerShdw>
          </a:effectLst>
        </p:spPr>
      </p:sp>
      <p:sp>
        <p:nvSpPr>
          <p:cNvPr id="6" name="Shape 4"/>
          <p:cNvSpPr/>
          <p:nvPr/>
        </p:nvSpPr>
        <p:spPr>
          <a:xfrm>
            <a:off x="411480" y="950976"/>
            <a:ext cx="256032" cy="256032"/>
          </a:xfrm>
          <a:prstGeom prst="roundRect">
            <a:avLst>
              <a:gd name="adj" fmla="val 25000"/>
            </a:avLst>
          </a:prstGeom>
          <a:solidFill>
            <a:srgbClr val="C9A227">
              <a:alpha val="70000"/>
            </a:srgbClr>
          </a:solidFill>
          <a:ln/>
        </p:spPr>
      </p:sp>
      <p:sp>
        <p:nvSpPr>
          <p:cNvPr id="7" name="Text 5"/>
          <p:cNvSpPr/>
          <p:nvPr/>
        </p:nvSpPr>
        <p:spPr>
          <a:xfrm>
            <a:off x="411480" y="950976"/>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8" name="Text 6"/>
          <p:cNvSpPr/>
          <p:nvPr/>
        </p:nvSpPr>
        <p:spPr>
          <a:xfrm>
            <a:off x="777240" y="914400"/>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Real-time message responding using Gemini 2.5 Flash Lite AI</a:t>
            </a:r>
            <a:endParaRPr lang="en-US" sz="1050" dirty="0"/>
          </a:p>
        </p:txBody>
      </p:sp>
      <p:sp>
        <p:nvSpPr>
          <p:cNvPr id="9" name="Shape 7"/>
          <p:cNvSpPr/>
          <p:nvPr/>
        </p:nvSpPr>
        <p:spPr>
          <a:xfrm>
            <a:off x="411480" y="1399032"/>
            <a:ext cx="256032" cy="256032"/>
          </a:xfrm>
          <a:prstGeom prst="roundRect">
            <a:avLst>
              <a:gd name="adj" fmla="val 25000"/>
            </a:avLst>
          </a:prstGeom>
          <a:solidFill>
            <a:srgbClr val="C9A227">
              <a:alpha val="70000"/>
            </a:srgbClr>
          </a:solidFill>
          <a:ln/>
        </p:spPr>
      </p:sp>
      <p:sp>
        <p:nvSpPr>
          <p:cNvPr id="10" name="Text 8"/>
          <p:cNvSpPr/>
          <p:nvPr/>
        </p:nvSpPr>
        <p:spPr>
          <a:xfrm>
            <a:off x="411480" y="1399032"/>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11" name="Text 9"/>
          <p:cNvSpPr/>
          <p:nvPr/>
        </p:nvSpPr>
        <p:spPr>
          <a:xfrm>
            <a:off x="777240" y="1362456"/>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Monitors class chat for @bot mentions continuously</a:t>
            </a:r>
            <a:endParaRPr lang="en-US" sz="1050" dirty="0"/>
          </a:p>
        </p:txBody>
      </p:sp>
      <p:sp>
        <p:nvSpPr>
          <p:cNvPr id="12" name="Shape 10"/>
          <p:cNvSpPr/>
          <p:nvPr/>
        </p:nvSpPr>
        <p:spPr>
          <a:xfrm>
            <a:off x="411480" y="1847088"/>
            <a:ext cx="256032" cy="256032"/>
          </a:xfrm>
          <a:prstGeom prst="roundRect">
            <a:avLst>
              <a:gd name="adj" fmla="val 25000"/>
            </a:avLst>
          </a:prstGeom>
          <a:solidFill>
            <a:srgbClr val="C9A227">
              <a:alpha val="70000"/>
            </a:srgbClr>
          </a:solidFill>
          <a:ln/>
        </p:spPr>
      </p:sp>
      <p:sp>
        <p:nvSpPr>
          <p:cNvPr id="13" name="Text 11"/>
          <p:cNvSpPr/>
          <p:nvPr/>
        </p:nvSpPr>
        <p:spPr>
          <a:xfrm>
            <a:off x="411480" y="1847088"/>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14" name="Text 12"/>
          <p:cNvSpPr/>
          <p:nvPr/>
        </p:nvSpPr>
        <p:spPr>
          <a:xfrm>
            <a:off x="777240" y="1810512"/>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Answers student queries about school, subjects, schedules</a:t>
            </a:r>
            <a:endParaRPr lang="en-US" sz="1050" dirty="0"/>
          </a:p>
        </p:txBody>
      </p:sp>
      <p:sp>
        <p:nvSpPr>
          <p:cNvPr id="15" name="Shape 13"/>
          <p:cNvSpPr/>
          <p:nvPr/>
        </p:nvSpPr>
        <p:spPr>
          <a:xfrm>
            <a:off x="411480" y="2295144"/>
            <a:ext cx="256032" cy="256032"/>
          </a:xfrm>
          <a:prstGeom prst="roundRect">
            <a:avLst>
              <a:gd name="adj" fmla="val 25000"/>
            </a:avLst>
          </a:prstGeom>
          <a:solidFill>
            <a:srgbClr val="C9A227">
              <a:alpha val="70000"/>
            </a:srgbClr>
          </a:solidFill>
          <a:ln/>
        </p:spPr>
      </p:sp>
      <p:sp>
        <p:nvSpPr>
          <p:cNvPr id="16" name="Text 14"/>
          <p:cNvSpPr/>
          <p:nvPr/>
        </p:nvSpPr>
        <p:spPr>
          <a:xfrm>
            <a:off x="411480" y="2295144"/>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17" name="Text 15"/>
          <p:cNvSpPr/>
          <p:nvPr/>
        </p:nvSpPr>
        <p:spPr>
          <a:xfrm>
            <a:off x="777240" y="2258568"/>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Plain text responses only (no markdown formatting)</a:t>
            </a:r>
            <a:endParaRPr lang="en-US" sz="1050" dirty="0"/>
          </a:p>
        </p:txBody>
      </p:sp>
      <p:sp>
        <p:nvSpPr>
          <p:cNvPr id="18" name="Shape 16"/>
          <p:cNvSpPr/>
          <p:nvPr/>
        </p:nvSpPr>
        <p:spPr>
          <a:xfrm>
            <a:off x="411480" y="2743200"/>
            <a:ext cx="256032" cy="256032"/>
          </a:xfrm>
          <a:prstGeom prst="roundRect">
            <a:avLst>
              <a:gd name="adj" fmla="val 25000"/>
            </a:avLst>
          </a:prstGeom>
          <a:solidFill>
            <a:srgbClr val="C9A227">
              <a:alpha val="70000"/>
            </a:srgbClr>
          </a:solidFill>
          <a:ln/>
        </p:spPr>
      </p:sp>
      <p:sp>
        <p:nvSpPr>
          <p:cNvPr id="19" name="Text 17"/>
          <p:cNvSpPr/>
          <p:nvPr/>
        </p:nvSpPr>
        <p:spPr>
          <a:xfrm>
            <a:off x="411480" y="2743200"/>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20" name="Text 18"/>
          <p:cNvSpPr/>
          <p:nvPr/>
        </p:nvSpPr>
        <p:spPr>
          <a:xfrm>
            <a:off x="777240" y="2706624"/>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24/7 operational capability running on Python server</a:t>
            </a:r>
            <a:endParaRPr lang="en-US" sz="1050" dirty="0"/>
          </a:p>
        </p:txBody>
      </p:sp>
      <p:sp>
        <p:nvSpPr>
          <p:cNvPr id="21" name="Shape 19"/>
          <p:cNvSpPr/>
          <p:nvPr/>
        </p:nvSpPr>
        <p:spPr>
          <a:xfrm>
            <a:off x="411480" y="3191256"/>
            <a:ext cx="256032" cy="256032"/>
          </a:xfrm>
          <a:prstGeom prst="roundRect">
            <a:avLst>
              <a:gd name="adj" fmla="val 25000"/>
            </a:avLst>
          </a:prstGeom>
          <a:solidFill>
            <a:srgbClr val="C9A227">
              <a:alpha val="70000"/>
            </a:srgbClr>
          </a:solidFill>
          <a:ln/>
        </p:spPr>
      </p:sp>
      <p:sp>
        <p:nvSpPr>
          <p:cNvPr id="22" name="Text 20"/>
          <p:cNvSpPr/>
          <p:nvPr/>
        </p:nvSpPr>
        <p:spPr>
          <a:xfrm>
            <a:off x="411480" y="3191256"/>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23" name="Text 21"/>
          <p:cNvSpPr/>
          <p:nvPr/>
        </p:nvSpPr>
        <p:spPr>
          <a:xfrm>
            <a:off x="777240" y="3154680"/>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Firebase Firestore integration for message storage</a:t>
            </a:r>
            <a:endParaRPr lang="en-US" sz="1050" dirty="0"/>
          </a:p>
        </p:txBody>
      </p:sp>
      <p:sp>
        <p:nvSpPr>
          <p:cNvPr id="24" name="Shape 22"/>
          <p:cNvSpPr/>
          <p:nvPr/>
        </p:nvSpPr>
        <p:spPr>
          <a:xfrm>
            <a:off x="411480" y="3639312"/>
            <a:ext cx="256032" cy="256032"/>
          </a:xfrm>
          <a:prstGeom prst="roundRect">
            <a:avLst>
              <a:gd name="adj" fmla="val 25000"/>
            </a:avLst>
          </a:prstGeom>
          <a:solidFill>
            <a:srgbClr val="C9A227">
              <a:alpha val="70000"/>
            </a:srgbClr>
          </a:solidFill>
          <a:ln/>
        </p:spPr>
      </p:sp>
      <p:sp>
        <p:nvSpPr>
          <p:cNvPr id="25" name="Text 23"/>
          <p:cNvSpPr/>
          <p:nvPr/>
        </p:nvSpPr>
        <p:spPr>
          <a:xfrm>
            <a:off x="411480" y="3639312"/>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26" name="Text 24"/>
          <p:cNvSpPr/>
          <p:nvPr/>
        </p:nvSpPr>
        <p:spPr>
          <a:xfrm>
            <a:off x="777240" y="3602736"/>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Python automation with logging and error handling</a:t>
            </a:r>
            <a:endParaRPr lang="en-US" sz="1050" dirty="0"/>
          </a:p>
        </p:txBody>
      </p:sp>
      <p:sp>
        <p:nvSpPr>
          <p:cNvPr id="27" name="Shape 25"/>
          <p:cNvSpPr/>
          <p:nvPr/>
        </p:nvSpPr>
        <p:spPr>
          <a:xfrm>
            <a:off x="411480" y="4087368"/>
            <a:ext cx="256032" cy="256032"/>
          </a:xfrm>
          <a:prstGeom prst="roundRect">
            <a:avLst>
              <a:gd name="adj" fmla="val 25000"/>
            </a:avLst>
          </a:prstGeom>
          <a:solidFill>
            <a:srgbClr val="C9A227">
              <a:alpha val="70000"/>
            </a:srgbClr>
          </a:solidFill>
          <a:ln/>
        </p:spPr>
      </p:sp>
      <p:sp>
        <p:nvSpPr>
          <p:cNvPr id="28" name="Text 26"/>
          <p:cNvSpPr/>
          <p:nvPr/>
        </p:nvSpPr>
        <p:spPr>
          <a:xfrm>
            <a:off x="411480" y="4087368"/>
            <a:ext cx="256032" cy="256032"/>
          </a:xfrm>
          <a:prstGeom prst="rect">
            <a:avLst/>
          </a:prstGeom>
          <a:noFill/>
          <a:ln/>
        </p:spPr>
        <p:txBody>
          <a:bodyPr wrap="square" rtlCol="0" anchor="ctr"/>
          <a:lstStyle/>
          <a:p>
            <a:pPr marL="0" indent="0" algn="ctr">
              <a:buNone/>
            </a:pPr>
            <a:r>
              <a:rPr lang="en-US" sz="1100" dirty="0">
                <a:solidFill>
                  <a:srgbClr val="000000"/>
                </a:solidFill>
              </a:rPr>
              <a:t>⚡</a:t>
            </a:r>
            <a:endParaRPr lang="en-US" sz="1100" dirty="0"/>
          </a:p>
        </p:txBody>
      </p:sp>
      <p:sp>
        <p:nvSpPr>
          <p:cNvPr id="29" name="Text 27"/>
          <p:cNvSpPr/>
          <p:nvPr/>
        </p:nvSpPr>
        <p:spPr>
          <a:xfrm>
            <a:off x="777240" y="4050792"/>
            <a:ext cx="4617720" cy="39319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Automatic timestamp and sender tracking</a:t>
            </a:r>
            <a:endParaRPr lang="en-US" sz="1050" dirty="0"/>
          </a:p>
        </p:txBody>
      </p:sp>
      <p:sp>
        <p:nvSpPr>
          <p:cNvPr id="30" name="Shape 28"/>
          <p:cNvSpPr/>
          <p:nvPr/>
        </p:nvSpPr>
        <p:spPr>
          <a:xfrm>
            <a:off x="5760720" y="749808"/>
            <a:ext cx="3182112" cy="4114800"/>
          </a:xfrm>
          <a:prstGeom prst="roundRect">
            <a:avLst>
              <a:gd name="adj" fmla="val 6322"/>
            </a:avLst>
          </a:prstGeom>
          <a:solidFill>
            <a:srgbClr val="111E30"/>
          </a:solidFill>
          <a:ln w="25400">
            <a:solidFill>
              <a:srgbClr val="C9A227"/>
            </a:solidFill>
            <a:prstDash val="solid"/>
          </a:ln>
          <a:effectLst>
            <a:outerShdw blurRad="317500" dist="50800" dir="8100000" algn="bl" rotWithShape="0">
              <a:srgbClr val="C9A227">
                <a:alpha val="35000"/>
              </a:srgbClr>
            </a:outerShdw>
          </a:effectLst>
        </p:spPr>
      </p:sp>
      <p:sp>
        <p:nvSpPr>
          <p:cNvPr id="31" name="Text 29"/>
          <p:cNvSpPr/>
          <p:nvPr/>
        </p:nvSpPr>
        <p:spPr>
          <a:xfrm>
            <a:off x="5760720" y="1005840"/>
            <a:ext cx="3182112" cy="1371600"/>
          </a:xfrm>
          <a:prstGeom prst="rect">
            <a:avLst/>
          </a:prstGeom>
          <a:noFill/>
          <a:ln/>
        </p:spPr>
        <p:txBody>
          <a:bodyPr wrap="square" rtlCol="0" anchor="ctr"/>
          <a:lstStyle/>
          <a:p>
            <a:pPr marL="0" indent="0" algn="ctr">
              <a:buNone/>
            </a:pPr>
            <a:r>
              <a:rPr lang="en-US" sz="7000" dirty="0">
                <a:solidFill>
                  <a:srgbClr val="000000"/>
                </a:solidFill>
              </a:rPr>
              <a:t>🤖</a:t>
            </a:r>
            <a:endParaRPr lang="en-US" sz="7000" dirty="0"/>
          </a:p>
        </p:txBody>
      </p:sp>
      <p:sp>
        <p:nvSpPr>
          <p:cNvPr id="32" name="Text 30"/>
          <p:cNvSpPr/>
          <p:nvPr/>
        </p:nvSpPr>
        <p:spPr>
          <a:xfrm>
            <a:off x="5760720" y="2514600"/>
            <a:ext cx="3182112" cy="502920"/>
          </a:xfrm>
          <a:prstGeom prst="rect">
            <a:avLst/>
          </a:prstGeom>
          <a:noFill/>
          <a:ln/>
        </p:spPr>
        <p:txBody>
          <a:bodyPr wrap="square" rtlCol="0" anchor="ctr"/>
          <a:lstStyle/>
          <a:p>
            <a:pPr marL="0" indent="0" algn="ctr">
              <a:buNone/>
            </a:pPr>
            <a:r>
              <a:rPr lang="en-US" sz="2000" b="1" dirty="0">
                <a:solidFill>
                  <a:srgbClr val="C9A227"/>
                </a:solidFill>
                <a:latin typeface="Georgia" pitchFamily="34" charset="0"/>
                <a:ea typeface="Georgia" pitchFamily="34" charset="-122"/>
                <a:cs typeface="Georgia" pitchFamily="34" charset="-120"/>
              </a:rPr>
              <a:t>KMC AI BOT</a:t>
            </a:r>
            <a:endParaRPr lang="en-US" sz="2000" dirty="0"/>
          </a:p>
        </p:txBody>
      </p:sp>
      <p:sp>
        <p:nvSpPr>
          <p:cNvPr id="33" name="Text 31"/>
          <p:cNvSpPr/>
          <p:nvPr/>
        </p:nvSpPr>
        <p:spPr>
          <a:xfrm>
            <a:off x="5760720" y="3463879"/>
            <a:ext cx="3182112" cy="347472"/>
          </a:xfrm>
          <a:prstGeom prst="rect">
            <a:avLst/>
          </a:prstGeom>
          <a:noFill/>
          <a:ln/>
        </p:spPr>
        <p:txBody>
          <a:bodyPr wrap="square" rtlCol="0" anchor="ctr"/>
          <a:lstStyle/>
          <a:p>
            <a:pPr marL="0" indent="0" algn="ctr">
              <a:buNone/>
            </a:pPr>
            <a:r>
              <a:rPr lang="en-US" sz="1100" dirty="0">
                <a:solidFill>
                  <a:srgbClr val="A0AEC0"/>
                </a:solidFill>
                <a:latin typeface="Calibri" pitchFamily="34" charset="0"/>
                <a:ea typeface="Calibri" pitchFamily="34" charset="-122"/>
                <a:cs typeface="Calibri" pitchFamily="34" charset="-120"/>
              </a:rPr>
              <a:t>Powered by Gemini 2.5 Flash Lite</a:t>
            </a:r>
            <a:endParaRPr lang="en-US" sz="1100" dirty="0"/>
          </a:p>
        </p:txBody>
      </p:sp>
      <p:sp>
        <p:nvSpPr>
          <p:cNvPr id="34" name="Shape 32"/>
          <p:cNvSpPr/>
          <p:nvPr/>
        </p:nvSpPr>
        <p:spPr>
          <a:xfrm>
            <a:off x="6120211" y="846526"/>
            <a:ext cx="2593363" cy="2623251"/>
          </a:xfrm>
          <a:prstGeom prst="ellipse">
            <a:avLst/>
          </a:prstGeom>
          <a:ln w="12700">
            <a:solidFill>
              <a:srgbClr val="C9A227"/>
            </a:solidFill>
            <a:prstDash val="dash"/>
          </a:ln>
        </p:spPr>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C9A227">
              <a:alpha val="10000"/>
            </a:srgbClr>
          </a:solidFill>
          <a:ln/>
        </p:spPr>
      </p:sp>
      <p:sp>
        <p:nvSpPr>
          <p:cNvPr id="3" name="Shape 1"/>
          <p:cNvSpPr/>
          <p:nvPr/>
        </p:nvSpPr>
        <p:spPr>
          <a:xfrm>
            <a:off x="6858000" y="2286000"/>
            <a:ext cx="4114800" cy="4114800"/>
          </a:xfrm>
          <a:prstGeom prst="ellipse">
            <a:avLst/>
          </a:prstGeom>
          <a:solidFill>
            <a:srgbClr val="1E3A5F">
              <a:alpha val="40000"/>
            </a:srgbClr>
          </a:solidFill>
          <a:ln/>
        </p:spPr>
      </p:sp>
      <p:sp>
        <p:nvSpPr>
          <p:cNvPr id="4" name="Shape 2"/>
          <p:cNvSpPr/>
          <p:nvPr/>
        </p:nvSpPr>
        <p:spPr>
          <a:xfrm>
            <a:off x="3886200" y="182880"/>
            <a:ext cx="1371600" cy="1371600"/>
          </a:xfrm>
          <a:prstGeom prst="ellipse">
            <a:avLst/>
          </a:prstGeom>
          <a:solidFill>
            <a:srgbClr val="C9A227">
              <a:alpha val="80000"/>
            </a:srgbClr>
          </a:solidFill>
          <a:ln w="25400">
            <a:solidFill>
              <a:srgbClr val="E8D48A"/>
            </a:solidFill>
            <a:prstDash val="solid"/>
          </a:ln>
          <a:effectLst>
            <a:outerShdw blurRad="254000" dist="50800" dir="8100000" algn="bl" rotWithShape="0">
              <a:srgbClr val="C9A227">
                <a:alpha val="40000"/>
              </a:srgbClr>
            </a:outerShdw>
          </a:effectLst>
        </p:spPr>
      </p:sp>
      <p:sp>
        <p:nvSpPr>
          <p:cNvPr id="5" name="Text 3"/>
          <p:cNvSpPr/>
          <p:nvPr/>
        </p:nvSpPr>
        <p:spPr>
          <a:xfrm>
            <a:off x="3886200" y="182880"/>
            <a:ext cx="1371600" cy="137160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6" name="Text 4"/>
          <p:cNvSpPr/>
          <p:nvPr/>
        </p:nvSpPr>
        <p:spPr>
          <a:xfrm>
            <a:off x="457200" y="1664208"/>
            <a:ext cx="8229600" cy="1005840"/>
          </a:xfrm>
          <a:prstGeom prst="rect">
            <a:avLst/>
          </a:prstGeom>
          <a:noFill/>
          <a:ln/>
        </p:spPr>
        <p:txBody>
          <a:bodyPr wrap="square" rtlCol="0" anchor="ctr"/>
          <a:lstStyle/>
          <a:p>
            <a:pPr marL="0" indent="0" algn="ctr">
              <a:buNone/>
            </a:pPr>
            <a:r>
              <a:rPr lang="en-US" sz="5400" b="1" dirty="0">
                <a:solidFill>
                  <a:srgbClr val="F8F9FA"/>
                </a:solidFill>
                <a:latin typeface="Georgia" pitchFamily="34" charset="0"/>
                <a:ea typeface="Georgia" pitchFamily="34" charset="-122"/>
                <a:cs typeface="Georgia" pitchFamily="34" charset="-120"/>
              </a:rPr>
              <a:t>Thank You</a:t>
            </a:r>
            <a:endParaRPr lang="en-US" sz="5400" dirty="0"/>
          </a:p>
        </p:txBody>
      </p:sp>
      <p:sp>
        <p:nvSpPr>
          <p:cNvPr id="7" name="Text 5"/>
          <p:cNvSpPr/>
          <p:nvPr/>
        </p:nvSpPr>
        <p:spPr>
          <a:xfrm>
            <a:off x="457200" y="2651760"/>
            <a:ext cx="8229600" cy="365760"/>
          </a:xfrm>
          <a:prstGeom prst="rect">
            <a:avLst/>
          </a:prstGeom>
          <a:noFill/>
          <a:ln/>
        </p:spPr>
        <p:txBody>
          <a:bodyPr wrap="square" rtlCol="0" anchor="ctr"/>
          <a:lstStyle/>
          <a:p>
            <a:pPr marL="0" indent="0" algn="ctr">
              <a:buNone/>
            </a:pPr>
            <a:r>
              <a:rPr lang="en-US" sz="1600" dirty="0">
                <a:solidFill>
                  <a:srgbClr val="A0AEC0"/>
                </a:solidFill>
                <a:latin typeface="Calibri" pitchFamily="34" charset="0"/>
                <a:ea typeface="Calibri" pitchFamily="34" charset="-122"/>
                <a:cs typeface="Calibri" pitchFamily="34" charset="-120"/>
              </a:rPr>
              <a:t>KMC School Management System</a:t>
            </a:r>
            <a:endParaRPr lang="en-US" sz="1600" dirty="0"/>
          </a:p>
        </p:txBody>
      </p:sp>
      <p:sp>
        <p:nvSpPr>
          <p:cNvPr id="10" name="Text 8"/>
          <p:cNvSpPr/>
          <p:nvPr/>
        </p:nvSpPr>
        <p:spPr>
          <a:xfrm>
            <a:off x="1399032" y="3310128"/>
            <a:ext cx="548640" cy="548640"/>
          </a:xfrm>
          <a:prstGeom prst="rect">
            <a:avLst/>
          </a:prstGeom>
          <a:noFill/>
          <a:ln/>
        </p:spPr>
        <p:txBody>
          <a:bodyPr wrap="square" lIns="91440" tIns="45720" rIns="91440" bIns="45720" rtlCol="0" anchor="ctr"/>
          <a:lstStyle/>
          <a:p>
            <a:pPr marL="0" indent="0" algn="ctr">
              <a:buNone/>
            </a:pPr>
            <a:endParaRPr lang="en-US" sz="1600"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KMC School Management System</dc:title>
  <dc:subject>PptxGenJS Presentation</dc:subject>
  <dc:creator>KMC SSP</dc:creator>
  <cp:lastModifiedBy>KMC SSP</cp:lastModifiedBy>
  <cp:revision>330</cp:revision>
  <dcterms:created xsi:type="dcterms:W3CDTF">2026-02-20T09:48:38Z</dcterms:created>
  <dcterms:modified xsi:type="dcterms:W3CDTF">2026-02-22T17:12:30Z</dcterms:modified>
</cp:coreProperties>
</file>